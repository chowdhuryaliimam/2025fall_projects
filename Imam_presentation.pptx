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58" r:id="rId6"/>
    <p:sldId id="259" r:id="rId7"/>
    <p:sldId id="260" r:id="rId8"/>
    <p:sldId id="261" r:id="rId9"/>
    <p:sldId id="262" r:id="rId10"/>
    <p:sldId id="263" r:id="rId11"/>
    <p:sldId id="264" r:id="rId12"/>
    <p:sldId id="267" r:id="rId13"/>
    <p:sldId id="268" r:id="rId14"/>
    <p:sldId id="273" r:id="rId15"/>
    <p:sldId id="269" r:id="rId16"/>
    <p:sldId id="272" r:id="rId17"/>
    <p:sldId id="27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B89990-CC3E-4267-9795-F24CF1FFEEF9}" v="1" dt="2025-12-03T17:15:08.0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9" d="100"/>
          <a:sy n="99" d="100"/>
        </p:scale>
        <p:origin x="-24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am, Chowdhury Ali" userId="bfde9f6a-df78-4bb6-b97b-eae2fa6170b0" providerId="ADAL" clId="{1DC6021C-7151-433C-8612-0C96AE264BEC}"/>
    <pc:docChg chg="custSel modSld">
      <pc:chgData name="Imam, Chowdhury Ali" userId="bfde9f6a-df78-4bb6-b97b-eae2fa6170b0" providerId="ADAL" clId="{1DC6021C-7151-433C-8612-0C96AE264BEC}" dt="2025-12-03T17:27:46.677" v="93" actId="20577"/>
      <pc:docMkLst>
        <pc:docMk/>
      </pc:docMkLst>
      <pc:sldChg chg="modSp mod">
        <pc:chgData name="Imam, Chowdhury Ali" userId="bfde9f6a-df78-4bb6-b97b-eae2fa6170b0" providerId="ADAL" clId="{1DC6021C-7151-433C-8612-0C96AE264BEC}" dt="2025-12-03T17:26:27.551" v="90" actId="20577"/>
        <pc:sldMkLst>
          <pc:docMk/>
          <pc:sldMk cId="3457048047" sldId="257"/>
        </pc:sldMkLst>
        <pc:spChg chg="mod">
          <ac:chgData name="Imam, Chowdhury Ali" userId="bfde9f6a-df78-4bb6-b97b-eae2fa6170b0" providerId="ADAL" clId="{1DC6021C-7151-433C-8612-0C96AE264BEC}" dt="2025-12-03T17:26:27.551" v="90" actId="20577"/>
          <ac:spMkLst>
            <pc:docMk/>
            <pc:sldMk cId="3457048047" sldId="257"/>
            <ac:spMk id="3" creationId="{00000000-0000-0000-0000-000000000000}"/>
          </ac:spMkLst>
        </pc:spChg>
      </pc:sldChg>
      <pc:sldChg chg="modSp mod">
        <pc:chgData name="Imam, Chowdhury Ali" userId="bfde9f6a-df78-4bb6-b97b-eae2fa6170b0" providerId="ADAL" clId="{1DC6021C-7151-433C-8612-0C96AE264BEC}" dt="2025-12-03T17:27:16.212" v="91" actId="20577"/>
        <pc:sldMkLst>
          <pc:docMk/>
          <pc:sldMk cId="3581653128" sldId="258"/>
        </pc:sldMkLst>
        <pc:spChg chg="mod">
          <ac:chgData name="Imam, Chowdhury Ali" userId="bfde9f6a-df78-4bb6-b97b-eae2fa6170b0" providerId="ADAL" clId="{1DC6021C-7151-433C-8612-0C96AE264BEC}" dt="2025-12-03T17:27:16.212" v="91" actId="20577"/>
          <ac:spMkLst>
            <pc:docMk/>
            <pc:sldMk cId="3581653128" sldId="258"/>
            <ac:spMk id="5" creationId="{00000000-0000-0000-0000-000000000000}"/>
          </ac:spMkLst>
        </pc:spChg>
      </pc:sldChg>
      <pc:sldChg chg="modSp mod">
        <pc:chgData name="Imam, Chowdhury Ali" userId="bfde9f6a-df78-4bb6-b97b-eae2fa6170b0" providerId="ADAL" clId="{1DC6021C-7151-433C-8612-0C96AE264BEC}" dt="2025-12-03T17:27:38.255" v="92" actId="20577"/>
        <pc:sldMkLst>
          <pc:docMk/>
          <pc:sldMk cId="1042508535" sldId="259"/>
        </pc:sldMkLst>
        <pc:spChg chg="mod">
          <ac:chgData name="Imam, Chowdhury Ali" userId="bfde9f6a-df78-4bb6-b97b-eae2fa6170b0" providerId="ADAL" clId="{1DC6021C-7151-433C-8612-0C96AE264BEC}" dt="2025-12-03T17:27:38.255" v="92" actId="20577"/>
          <ac:spMkLst>
            <pc:docMk/>
            <pc:sldMk cId="1042508535" sldId="259"/>
            <ac:spMk id="5" creationId="{00000000-0000-0000-0000-000000000000}"/>
          </ac:spMkLst>
        </pc:spChg>
      </pc:sldChg>
      <pc:sldChg chg="modSp mod">
        <pc:chgData name="Imam, Chowdhury Ali" userId="bfde9f6a-df78-4bb6-b97b-eae2fa6170b0" providerId="ADAL" clId="{1DC6021C-7151-433C-8612-0C96AE264BEC}" dt="2025-12-03T17:27:46.677" v="93" actId="20577"/>
        <pc:sldMkLst>
          <pc:docMk/>
          <pc:sldMk cId="4158264163" sldId="260"/>
        </pc:sldMkLst>
        <pc:spChg chg="mod">
          <ac:chgData name="Imam, Chowdhury Ali" userId="bfde9f6a-df78-4bb6-b97b-eae2fa6170b0" providerId="ADAL" clId="{1DC6021C-7151-433C-8612-0C96AE264BEC}" dt="2025-12-03T17:27:46.677" v="93" actId="20577"/>
          <ac:spMkLst>
            <pc:docMk/>
            <pc:sldMk cId="4158264163" sldId="260"/>
            <ac:spMk id="5" creationId="{00000000-0000-0000-0000-000000000000}"/>
          </ac:spMkLst>
        </pc:spChg>
      </pc:sldChg>
      <pc:sldChg chg="modSp mod">
        <pc:chgData name="Imam, Chowdhury Ali" userId="bfde9f6a-df78-4bb6-b97b-eae2fa6170b0" providerId="ADAL" clId="{1DC6021C-7151-433C-8612-0C96AE264BEC}" dt="2025-12-03T17:19:17.223" v="59" actId="20577"/>
        <pc:sldMkLst>
          <pc:docMk/>
          <pc:sldMk cId="2408850084" sldId="267"/>
        </pc:sldMkLst>
        <pc:graphicFrameChg chg="modGraphic">
          <ac:chgData name="Imam, Chowdhury Ali" userId="bfde9f6a-df78-4bb6-b97b-eae2fa6170b0" providerId="ADAL" clId="{1DC6021C-7151-433C-8612-0C96AE264BEC}" dt="2025-12-03T17:19:17.223" v="59" actId="20577"/>
          <ac:graphicFrameMkLst>
            <pc:docMk/>
            <pc:sldMk cId="2408850084" sldId="267"/>
            <ac:graphicFrameMk id="3" creationId="{00000000-0000-0000-0000-000000000000}"/>
          </ac:graphicFrameMkLst>
        </pc:graphicFrameChg>
      </pc:sldChg>
      <pc:sldChg chg="addSp delSp modSp mod">
        <pc:chgData name="Imam, Chowdhury Ali" userId="bfde9f6a-df78-4bb6-b97b-eae2fa6170b0" providerId="ADAL" clId="{1DC6021C-7151-433C-8612-0C96AE264BEC}" dt="2025-12-03T17:19:11.350" v="58" actId="20577"/>
        <pc:sldMkLst>
          <pc:docMk/>
          <pc:sldMk cId="4047548869" sldId="268"/>
        </pc:sldMkLst>
        <pc:spChg chg="mod">
          <ac:chgData name="Imam, Chowdhury Ali" userId="bfde9f6a-df78-4bb6-b97b-eae2fa6170b0" providerId="ADAL" clId="{1DC6021C-7151-433C-8612-0C96AE264BEC}" dt="2025-12-03T17:18:59.106" v="57" actId="1076"/>
          <ac:spMkLst>
            <pc:docMk/>
            <pc:sldMk cId="4047548869" sldId="268"/>
            <ac:spMk id="2" creationId="{00000000-0000-0000-0000-000000000000}"/>
          </ac:spMkLst>
        </pc:spChg>
        <pc:spChg chg="del mod">
          <ac:chgData name="Imam, Chowdhury Ali" userId="bfde9f6a-df78-4bb6-b97b-eae2fa6170b0" providerId="ADAL" clId="{1DC6021C-7151-433C-8612-0C96AE264BEC}" dt="2025-12-03T17:17:24.546" v="51" actId="478"/>
          <ac:spMkLst>
            <pc:docMk/>
            <pc:sldMk cId="4047548869" sldId="268"/>
            <ac:spMk id="4" creationId="{00000000-0000-0000-0000-000000000000}"/>
          </ac:spMkLst>
        </pc:spChg>
        <pc:graphicFrameChg chg="add mod modGraphic">
          <ac:chgData name="Imam, Chowdhury Ali" userId="bfde9f6a-df78-4bb6-b97b-eae2fa6170b0" providerId="ADAL" clId="{1DC6021C-7151-433C-8612-0C96AE264BEC}" dt="2025-12-03T17:19:11.350" v="58" actId="20577"/>
          <ac:graphicFrameMkLst>
            <pc:docMk/>
            <pc:sldMk cId="4047548869" sldId="268"/>
            <ac:graphicFrameMk id="3" creationId="{58AC8864-17E4-56E3-19BB-2E909D05D6D1}"/>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946293-0B56-43E4-B6A3-D13AE42339F5}"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2474983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946293-0B56-43E4-B6A3-D13AE42339F5}"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3693410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946293-0B56-43E4-B6A3-D13AE42339F5}"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3077672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946293-0B56-43E4-B6A3-D13AE42339F5}"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1897170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946293-0B56-43E4-B6A3-D13AE42339F5}"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1355143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946293-0B56-43E4-B6A3-D13AE42339F5}"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3883074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946293-0B56-43E4-B6A3-D13AE42339F5}"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1699349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946293-0B56-43E4-B6A3-D13AE42339F5}"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3686735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946293-0B56-43E4-B6A3-D13AE42339F5}"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2225867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946293-0B56-43E4-B6A3-D13AE42339F5}"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1197871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946293-0B56-43E4-B6A3-D13AE42339F5}"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84054-CDA9-4F89-BA3F-3E1C83091E86}" type="slidenum">
              <a:rPr lang="en-US" smtClean="0"/>
              <a:t>‹#›</a:t>
            </a:fld>
            <a:endParaRPr lang="en-US"/>
          </a:p>
        </p:txBody>
      </p:sp>
    </p:spTree>
    <p:extLst>
      <p:ext uri="{BB962C8B-B14F-4D97-AF65-F5344CB8AC3E}">
        <p14:creationId xmlns:p14="http://schemas.microsoft.com/office/powerpoint/2010/main" val="4121221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946293-0B56-43E4-B6A3-D13AE42339F5}" type="datetimeFigureOut">
              <a:rPr lang="en-US" smtClean="0"/>
              <a:t>12/17/2025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E84054-CDA9-4F89-BA3F-3E1C83091E86}" type="slidenum">
              <a:rPr lang="en-US" smtClean="0"/>
              <a:t>‹#›</a:t>
            </a:fld>
            <a:endParaRPr lang="en-US"/>
          </a:p>
        </p:txBody>
      </p:sp>
    </p:spTree>
    <p:extLst>
      <p:ext uri="{BB962C8B-B14F-4D97-AF65-F5344CB8AC3E}">
        <p14:creationId xmlns:p14="http://schemas.microsoft.com/office/powerpoint/2010/main" val="458381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1100" y="2828836"/>
            <a:ext cx="6781800" cy="1200329"/>
          </a:xfrm>
          <a:prstGeom prst="rect">
            <a:avLst/>
          </a:prstGeom>
        </p:spPr>
        <p:txBody>
          <a:bodyPr wrap="square">
            <a:spAutoFit/>
          </a:bodyPr>
          <a:lstStyle/>
          <a:p>
            <a:pPr algn="ctr"/>
            <a:r>
              <a:rPr lang="en-US" sz="3600" dirty="0">
                <a:latin typeface="Tw Cen MT Condensed" pitchFamily="34" charset="0"/>
              </a:rPr>
              <a:t>Monte Carlo Analysis of Occupancy-Driven Energy and CO₂ Variability in a Public Building</a:t>
            </a:r>
          </a:p>
        </p:txBody>
      </p:sp>
      <p:sp>
        <p:nvSpPr>
          <p:cNvPr id="5" name="TextBox 4"/>
          <p:cNvSpPr txBox="1"/>
          <p:nvPr/>
        </p:nvSpPr>
        <p:spPr>
          <a:xfrm>
            <a:off x="3162300" y="4724400"/>
            <a:ext cx="2819400" cy="338554"/>
          </a:xfrm>
          <a:prstGeom prst="rect">
            <a:avLst/>
          </a:prstGeom>
          <a:noFill/>
        </p:spPr>
        <p:txBody>
          <a:bodyPr wrap="square" rtlCol="0">
            <a:spAutoFit/>
          </a:bodyPr>
          <a:lstStyle/>
          <a:p>
            <a:pPr algn="ctr"/>
            <a:r>
              <a:rPr lang="en-US" sz="1600" dirty="0" err="1">
                <a:latin typeface="Tw Cen MT Condensed" pitchFamily="34" charset="0"/>
              </a:rPr>
              <a:t>Chowdhury</a:t>
            </a:r>
            <a:r>
              <a:rPr lang="en-US" sz="1600" dirty="0">
                <a:latin typeface="Tw Cen MT Condensed" pitchFamily="34" charset="0"/>
              </a:rPr>
              <a:t> Ali Imam</a:t>
            </a:r>
          </a:p>
        </p:txBody>
      </p:sp>
    </p:spTree>
    <p:extLst>
      <p:ext uri="{BB962C8B-B14F-4D97-AF65-F5344CB8AC3E}">
        <p14:creationId xmlns:p14="http://schemas.microsoft.com/office/powerpoint/2010/main" val="1614973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752600"/>
            <a:ext cx="5638800" cy="584775"/>
          </a:xfrm>
          <a:prstGeom prst="rect">
            <a:avLst/>
          </a:prstGeom>
          <a:noFill/>
        </p:spPr>
        <p:txBody>
          <a:bodyPr wrap="square" rtlCol="0">
            <a:spAutoFit/>
          </a:bodyPr>
          <a:lstStyle/>
          <a:p>
            <a:r>
              <a:rPr lang="en-US" sz="3200" dirty="0">
                <a:latin typeface="Tw Cen MT Condensed" pitchFamily="34" charset="0"/>
              </a:rPr>
              <a:t>Brief</a:t>
            </a:r>
            <a:endParaRPr lang="en-US" sz="2400" dirty="0">
              <a:latin typeface="Tw Cen MT Condensed" pitchFamily="34" charset="0"/>
            </a:endParaRPr>
          </a:p>
        </p:txBody>
      </p:sp>
      <p:sp>
        <p:nvSpPr>
          <p:cNvPr id="3" name="TextBox 2"/>
          <p:cNvSpPr txBox="1"/>
          <p:nvPr/>
        </p:nvSpPr>
        <p:spPr>
          <a:xfrm>
            <a:off x="914400" y="2551837"/>
            <a:ext cx="5638800" cy="1754326"/>
          </a:xfrm>
          <a:prstGeom prst="rect">
            <a:avLst/>
          </a:prstGeom>
          <a:noFill/>
        </p:spPr>
        <p:txBody>
          <a:bodyPr wrap="square" rtlCol="0">
            <a:spAutoFit/>
          </a:bodyPr>
          <a:lstStyle/>
          <a:p>
            <a:pPr marL="285750" indent="-285750">
              <a:buFont typeface="Arial" pitchFamily="34" charset="0"/>
              <a:buChar char="•"/>
            </a:pPr>
            <a:r>
              <a:rPr lang="en-US" dirty="0">
                <a:latin typeface="Tw Cen MT Condensed" pitchFamily="34" charset="0"/>
              </a:rPr>
              <a:t>Modeling a non-parametric Monte Carlo uncertainty of occupant behavior to investigate its effect on energy demand and indoor carbon dioxide levels.</a:t>
            </a:r>
          </a:p>
          <a:p>
            <a:pPr marL="285750" indent="-285750">
              <a:buFont typeface="Arial" pitchFamily="34" charset="0"/>
              <a:buChar char="•"/>
            </a:pPr>
            <a:endParaRPr lang="en-US" dirty="0">
              <a:latin typeface="Tw Cen MT Condensed" pitchFamily="34" charset="0"/>
            </a:endParaRPr>
          </a:p>
          <a:p>
            <a:pPr marL="285750" indent="-285750">
              <a:buFont typeface="Arial" pitchFamily="34" charset="0"/>
              <a:buChar char="•"/>
            </a:pPr>
            <a:r>
              <a:rPr lang="en-US" dirty="0">
                <a:latin typeface="Tw Cen MT Condensed" pitchFamily="34" charset="0"/>
              </a:rPr>
              <a:t>No simulation engine is used</a:t>
            </a:r>
          </a:p>
          <a:p>
            <a:pPr marL="285750" indent="-285750">
              <a:buFont typeface="Arial" pitchFamily="34" charset="0"/>
              <a:buChar char="•"/>
            </a:pPr>
            <a:endParaRPr lang="en-US" dirty="0">
              <a:latin typeface="Tw Cen MT Condensed" pitchFamily="34" charset="0"/>
            </a:endParaRPr>
          </a:p>
          <a:p>
            <a:pPr marL="285750" indent="-285750">
              <a:buFont typeface="Arial" pitchFamily="34" charset="0"/>
              <a:buChar char="•"/>
            </a:pPr>
            <a:r>
              <a:rPr lang="en-US" dirty="0">
                <a:latin typeface="Tw Cen MT Condensed" pitchFamily="34" charset="0"/>
              </a:rPr>
              <a:t> Physics-based simulation under the uncertainty of occupancy</a:t>
            </a:r>
          </a:p>
        </p:txBody>
      </p:sp>
    </p:spTree>
    <p:extLst>
      <p:ext uri="{BB962C8B-B14F-4D97-AF65-F5344CB8AC3E}">
        <p14:creationId xmlns:p14="http://schemas.microsoft.com/office/powerpoint/2010/main" val="3457048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752600"/>
            <a:ext cx="5638800" cy="584775"/>
          </a:xfrm>
          <a:prstGeom prst="rect">
            <a:avLst/>
          </a:prstGeom>
          <a:noFill/>
        </p:spPr>
        <p:txBody>
          <a:bodyPr wrap="square" rtlCol="0">
            <a:spAutoFit/>
          </a:bodyPr>
          <a:lstStyle/>
          <a:p>
            <a:r>
              <a:rPr lang="en-US" sz="3200" dirty="0">
                <a:latin typeface="Tw Cen MT Condensed" pitchFamily="34" charset="0"/>
              </a:rPr>
              <a:t>Validation</a:t>
            </a:r>
            <a:endParaRPr lang="en-US" sz="2400" dirty="0">
              <a:latin typeface="Tw Cen MT Condensed" pitchFamily="34" charset="0"/>
            </a:endParaRPr>
          </a:p>
        </p:txBody>
      </p:sp>
      <p:sp>
        <p:nvSpPr>
          <p:cNvPr id="3" name="TextBox 2"/>
          <p:cNvSpPr txBox="1"/>
          <p:nvPr/>
        </p:nvSpPr>
        <p:spPr>
          <a:xfrm>
            <a:off x="914400" y="2551837"/>
            <a:ext cx="5638800" cy="1754326"/>
          </a:xfrm>
          <a:prstGeom prst="rect">
            <a:avLst/>
          </a:prstGeom>
          <a:noFill/>
        </p:spPr>
        <p:txBody>
          <a:bodyPr wrap="square" rtlCol="0">
            <a:spAutoFit/>
          </a:bodyPr>
          <a:lstStyle/>
          <a:p>
            <a:pPr marL="285750" indent="-285750">
              <a:buFont typeface="Arial" pitchFamily="34" charset="0"/>
              <a:buChar char="•"/>
            </a:pPr>
            <a:r>
              <a:rPr lang="en-US" dirty="0">
                <a:latin typeface="Tw Cen MT Condensed" pitchFamily="34" charset="0"/>
              </a:rPr>
              <a:t>Comparing the Monte Carlo resampled occupancy distribution with the original dataset</a:t>
            </a:r>
          </a:p>
          <a:p>
            <a:pPr marL="285750" indent="-285750">
              <a:buFont typeface="Arial" pitchFamily="34" charset="0"/>
              <a:buChar char="•"/>
            </a:pPr>
            <a:endParaRPr lang="en-US" dirty="0">
              <a:latin typeface="Tw Cen MT Condensed" pitchFamily="34" charset="0"/>
            </a:endParaRPr>
          </a:p>
          <a:p>
            <a:pPr marL="285750" indent="-285750">
              <a:buFont typeface="Arial" pitchFamily="34" charset="0"/>
              <a:buChar char="•"/>
            </a:pPr>
            <a:r>
              <a:rPr lang="en-US" dirty="0">
                <a:latin typeface="Tw Cen MT Condensed" pitchFamily="34" charset="0"/>
              </a:rPr>
              <a:t>Comparing the measured carbon-di-oxide concentration with the original dataset</a:t>
            </a:r>
          </a:p>
          <a:p>
            <a:pPr marL="285750" indent="-285750">
              <a:buFont typeface="Arial" pitchFamily="34" charset="0"/>
              <a:buChar char="•"/>
            </a:pPr>
            <a:endParaRPr lang="en-US" dirty="0">
              <a:latin typeface="Tw Cen MT Condensed" pitchFamily="34" charset="0"/>
            </a:endParaRPr>
          </a:p>
        </p:txBody>
      </p:sp>
    </p:spTree>
    <p:extLst>
      <p:ext uri="{BB962C8B-B14F-4D97-AF65-F5344CB8AC3E}">
        <p14:creationId xmlns:p14="http://schemas.microsoft.com/office/powerpoint/2010/main" val="211714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752600"/>
            <a:ext cx="5638800" cy="584775"/>
          </a:xfrm>
          <a:prstGeom prst="rect">
            <a:avLst/>
          </a:prstGeom>
          <a:noFill/>
        </p:spPr>
        <p:txBody>
          <a:bodyPr wrap="square" rtlCol="0">
            <a:spAutoFit/>
          </a:bodyPr>
          <a:lstStyle/>
          <a:p>
            <a:r>
              <a:rPr lang="en-US" sz="3200" dirty="0">
                <a:latin typeface="Tw Cen MT Condensed" pitchFamily="34" charset="0"/>
              </a:rPr>
              <a:t>Hypothesis</a:t>
            </a:r>
            <a:endParaRPr lang="en-US" sz="2400" dirty="0">
              <a:latin typeface="Tw Cen MT Condensed" pitchFamily="34" charset="0"/>
            </a:endParaRPr>
          </a:p>
        </p:txBody>
      </p:sp>
      <p:sp>
        <p:nvSpPr>
          <p:cNvPr id="3" name="TextBox 2"/>
          <p:cNvSpPr txBox="1"/>
          <p:nvPr/>
        </p:nvSpPr>
        <p:spPr>
          <a:xfrm>
            <a:off x="914400" y="2551837"/>
            <a:ext cx="5638800" cy="1477328"/>
          </a:xfrm>
          <a:prstGeom prst="rect">
            <a:avLst/>
          </a:prstGeom>
          <a:noFill/>
        </p:spPr>
        <p:txBody>
          <a:bodyPr wrap="square" rtlCol="0">
            <a:spAutoFit/>
          </a:bodyPr>
          <a:lstStyle/>
          <a:p>
            <a:pPr marL="285750" indent="-285750">
              <a:buFont typeface="Arial" pitchFamily="34" charset="0"/>
              <a:buChar char="•"/>
            </a:pPr>
            <a:r>
              <a:rPr lang="en-US" dirty="0">
                <a:latin typeface="Tw Cen MT Condensed" pitchFamily="34" charset="0"/>
              </a:rPr>
              <a:t>As average occupancy increases, the per-capita energy consumption decreases</a:t>
            </a:r>
          </a:p>
          <a:p>
            <a:endParaRPr lang="en-US" dirty="0">
              <a:latin typeface="Tw Cen MT Condensed" pitchFamily="34" charset="0"/>
            </a:endParaRPr>
          </a:p>
          <a:p>
            <a:pPr marL="285750" indent="-285750">
              <a:buFont typeface="Arial" pitchFamily="34" charset="0"/>
              <a:buChar char="•"/>
            </a:pPr>
            <a:r>
              <a:rPr lang="en-US" dirty="0">
                <a:latin typeface="Tw Cen MT Condensed" pitchFamily="34" charset="0"/>
              </a:rPr>
              <a:t>Compared to fixed ventilation, occupancy-based ventilation will reduce CO₂ </a:t>
            </a:r>
            <a:r>
              <a:rPr lang="en-US" dirty="0" err="1">
                <a:latin typeface="Tw Cen MT Condensed" pitchFamily="34" charset="0"/>
              </a:rPr>
              <a:t>exceedance</a:t>
            </a:r>
            <a:r>
              <a:rPr lang="en-US" dirty="0">
                <a:latin typeface="Tw Cen MT Condensed" pitchFamily="34" charset="0"/>
              </a:rPr>
              <a:t> </a:t>
            </a:r>
            <a:r>
              <a:rPr lang="en-US" dirty="0" smtClean="0">
                <a:latin typeface="Tw Cen MT Condensed" pitchFamily="34" charset="0"/>
              </a:rPr>
              <a:t>hours and energy use.</a:t>
            </a:r>
            <a:endParaRPr lang="en-US" dirty="0">
              <a:latin typeface="Tw Cen MT Condensed" pitchFamily="34" charset="0"/>
            </a:endParaRPr>
          </a:p>
        </p:txBody>
      </p:sp>
    </p:spTree>
    <p:extLst>
      <p:ext uri="{BB962C8B-B14F-4D97-AF65-F5344CB8AC3E}">
        <p14:creationId xmlns:p14="http://schemas.microsoft.com/office/powerpoint/2010/main" val="192894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584775"/>
          </a:xfrm>
          <a:prstGeom prst="rect">
            <a:avLst/>
          </a:prstGeom>
          <a:noFill/>
        </p:spPr>
        <p:txBody>
          <a:bodyPr wrap="square" rtlCol="0">
            <a:spAutoFit/>
          </a:bodyPr>
          <a:lstStyle/>
          <a:p>
            <a:r>
              <a:rPr lang="en-US" sz="3200" dirty="0">
                <a:latin typeface="Tw Cen MT Condensed" pitchFamily="34" charset="0"/>
              </a:rPr>
              <a:t>CO₂ Mass Balance Equation</a:t>
            </a:r>
            <a:endParaRPr lang="en-US" sz="2400" dirty="0">
              <a:latin typeface="Tw Cen MT Condensed" pitchFamily="34" charset="0"/>
            </a:endParaRPr>
          </a:p>
        </p:txBody>
      </p:sp>
      <p:sp>
        <p:nvSpPr>
          <p:cNvPr id="4" name="TextBox 3"/>
          <p:cNvSpPr txBox="1"/>
          <p:nvPr/>
        </p:nvSpPr>
        <p:spPr>
          <a:xfrm>
            <a:off x="914400" y="1981200"/>
            <a:ext cx="7543800" cy="830997"/>
          </a:xfrm>
          <a:prstGeom prst="rect">
            <a:avLst/>
          </a:prstGeom>
          <a:noFill/>
        </p:spPr>
        <p:txBody>
          <a:bodyPr wrap="square" rtlCol="0">
            <a:spAutoFit/>
          </a:bodyPr>
          <a:lstStyle/>
          <a:p>
            <a:r>
              <a:rPr lang="en-US" sz="2400" dirty="0">
                <a:latin typeface="Tw Cen MT" pitchFamily="34" charset="0"/>
              </a:rPr>
              <a:t>C(t+1) = C(t) + (</a:t>
            </a:r>
            <a:r>
              <a:rPr lang="el-GR" sz="2400" dirty="0"/>
              <a:t>Δ</a:t>
            </a:r>
            <a:r>
              <a:rPr lang="en-US" sz="2400" dirty="0">
                <a:latin typeface="Tw Cen MT" pitchFamily="34" charset="0"/>
              </a:rPr>
              <a:t>t/V) * [G_CO2*N(t) + V̇(t)*(</a:t>
            </a:r>
            <a:r>
              <a:rPr lang="en-US" sz="2400" dirty="0" err="1">
                <a:latin typeface="Tw Cen MT" pitchFamily="34" charset="0"/>
              </a:rPr>
              <a:t>C_out</a:t>
            </a:r>
            <a:r>
              <a:rPr lang="en-US" sz="2400" dirty="0">
                <a:latin typeface="Tw Cen MT" pitchFamily="34" charset="0"/>
              </a:rPr>
              <a:t> - C(t))]</a:t>
            </a:r>
          </a:p>
          <a:p>
            <a:endParaRPr lang="en-US" sz="2400" dirty="0">
              <a:latin typeface="Tw Cen MT" pitchFamily="34" charset="0"/>
            </a:endParaRPr>
          </a:p>
        </p:txBody>
      </p:sp>
      <p:sp>
        <p:nvSpPr>
          <p:cNvPr id="5" name="TextBox 4"/>
          <p:cNvSpPr txBox="1"/>
          <p:nvPr/>
        </p:nvSpPr>
        <p:spPr>
          <a:xfrm>
            <a:off x="1066800" y="2812197"/>
            <a:ext cx="6858000" cy="2308324"/>
          </a:xfrm>
          <a:prstGeom prst="rect">
            <a:avLst/>
          </a:prstGeom>
          <a:noFill/>
        </p:spPr>
        <p:txBody>
          <a:bodyPr wrap="square" rtlCol="0">
            <a:spAutoFit/>
          </a:bodyPr>
          <a:lstStyle/>
          <a:p>
            <a:r>
              <a:rPr lang="en-US" dirty="0">
                <a:latin typeface="Tw Cen MT Condensed" pitchFamily="34" charset="0"/>
              </a:rPr>
              <a:t>C(t): indoor CO₂ concentration [ppm]</a:t>
            </a:r>
          </a:p>
          <a:p>
            <a:r>
              <a:rPr lang="el-GR" dirty="0"/>
              <a:t>Δ</a:t>
            </a:r>
            <a:r>
              <a:rPr lang="en-US" dirty="0">
                <a:latin typeface="Tw Cen MT Condensed" pitchFamily="34" charset="0"/>
              </a:rPr>
              <a:t>t: time step duration [s]</a:t>
            </a:r>
          </a:p>
          <a:p>
            <a:r>
              <a:rPr lang="en-US" dirty="0">
                <a:latin typeface="Tw Cen MT Condensed" pitchFamily="34" charset="0"/>
              </a:rPr>
              <a:t>V: room air volume [m³</a:t>
            </a:r>
            <a:r>
              <a:rPr lang="en-US" dirty="0" smtClean="0">
                <a:latin typeface="Tw Cen MT Condensed" pitchFamily="34" charset="0"/>
              </a:rPr>
              <a:t>] [The volume of the three rooms were given in the reference paper]</a:t>
            </a:r>
            <a:endParaRPr lang="en-US" dirty="0">
              <a:latin typeface="Tw Cen MT Condensed" pitchFamily="34" charset="0"/>
            </a:endParaRPr>
          </a:p>
          <a:p>
            <a:r>
              <a:rPr lang="en-US" dirty="0">
                <a:latin typeface="Tw Cen MT Condensed" pitchFamily="34" charset="0"/>
              </a:rPr>
              <a:t>G_CO2: CO₂ generation per person [mg/s-person]</a:t>
            </a:r>
          </a:p>
          <a:p>
            <a:r>
              <a:rPr lang="en-US" dirty="0">
                <a:latin typeface="Tw Cen MT Condensed" pitchFamily="34" charset="0"/>
              </a:rPr>
              <a:t>N(t): occupancy at time t [persons]</a:t>
            </a:r>
          </a:p>
          <a:p>
            <a:r>
              <a:rPr lang="en-US" dirty="0">
                <a:latin typeface="Tw Cen MT Condensed" pitchFamily="34" charset="0"/>
              </a:rPr>
              <a:t>V̇(t): ventilation flow rate [m³/s]</a:t>
            </a:r>
          </a:p>
          <a:p>
            <a:r>
              <a:rPr lang="en-US" dirty="0" err="1">
                <a:latin typeface="Tw Cen MT Condensed" pitchFamily="34" charset="0"/>
              </a:rPr>
              <a:t>C_out</a:t>
            </a:r>
            <a:r>
              <a:rPr lang="en-US" dirty="0">
                <a:latin typeface="Tw Cen MT Condensed" pitchFamily="34" charset="0"/>
              </a:rPr>
              <a:t>: outdoor CO₂ concentration [ppm]</a:t>
            </a:r>
          </a:p>
          <a:p>
            <a:endParaRPr lang="en-US" dirty="0"/>
          </a:p>
        </p:txBody>
      </p:sp>
    </p:spTree>
    <p:extLst>
      <p:ext uri="{BB962C8B-B14F-4D97-AF65-F5344CB8AC3E}">
        <p14:creationId xmlns:p14="http://schemas.microsoft.com/office/powerpoint/2010/main" val="3581653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Ventilation Thermal Load</a:t>
            </a:r>
          </a:p>
        </p:txBody>
      </p:sp>
      <p:sp>
        <p:nvSpPr>
          <p:cNvPr id="4" name="TextBox 3"/>
          <p:cNvSpPr txBox="1"/>
          <p:nvPr/>
        </p:nvSpPr>
        <p:spPr>
          <a:xfrm>
            <a:off x="914400" y="1981200"/>
            <a:ext cx="7543800" cy="830997"/>
          </a:xfrm>
          <a:prstGeom prst="rect">
            <a:avLst/>
          </a:prstGeom>
          <a:noFill/>
        </p:spPr>
        <p:txBody>
          <a:bodyPr wrap="square" rtlCol="0">
            <a:spAutoFit/>
          </a:bodyPr>
          <a:lstStyle/>
          <a:p>
            <a:r>
              <a:rPr lang="fr-FR" sz="2400" dirty="0" err="1">
                <a:latin typeface="Tw Cen MT" pitchFamily="34" charset="0"/>
              </a:rPr>
              <a:t>Q_vent</a:t>
            </a:r>
            <a:r>
              <a:rPr lang="fr-FR" sz="2400" dirty="0">
                <a:latin typeface="Tw Cen MT" pitchFamily="34" charset="0"/>
              </a:rPr>
              <a:t>(t) = ρ * </a:t>
            </a:r>
            <a:r>
              <a:rPr lang="fr-FR" sz="2400" dirty="0" err="1">
                <a:latin typeface="Tw Cen MT" pitchFamily="34" charset="0"/>
              </a:rPr>
              <a:t>c_p</a:t>
            </a:r>
            <a:r>
              <a:rPr lang="fr-FR" sz="2400" dirty="0">
                <a:latin typeface="Tw Cen MT" pitchFamily="34" charset="0"/>
              </a:rPr>
              <a:t> * V̇(t) * (</a:t>
            </a:r>
            <a:r>
              <a:rPr lang="fr-FR" sz="2400" dirty="0" err="1">
                <a:latin typeface="Tw Cen MT" pitchFamily="34" charset="0"/>
              </a:rPr>
              <a:t>T_set</a:t>
            </a:r>
            <a:r>
              <a:rPr lang="fr-FR" sz="2400" dirty="0">
                <a:latin typeface="Tw Cen MT" pitchFamily="34" charset="0"/>
              </a:rPr>
              <a:t> - </a:t>
            </a:r>
            <a:r>
              <a:rPr lang="fr-FR" sz="2400" dirty="0" err="1">
                <a:latin typeface="Tw Cen MT" pitchFamily="34" charset="0"/>
              </a:rPr>
              <a:t>T_out</a:t>
            </a:r>
            <a:r>
              <a:rPr lang="fr-FR" sz="2400" dirty="0">
                <a:latin typeface="Tw Cen MT" pitchFamily="34" charset="0"/>
              </a:rPr>
              <a:t>(t))</a:t>
            </a:r>
          </a:p>
          <a:p>
            <a:endParaRPr lang="en-US" sz="2400" dirty="0">
              <a:latin typeface="Tw Cen MT" pitchFamily="34" charset="0"/>
            </a:endParaRPr>
          </a:p>
        </p:txBody>
      </p:sp>
      <p:sp>
        <p:nvSpPr>
          <p:cNvPr id="5" name="TextBox 4"/>
          <p:cNvSpPr txBox="1"/>
          <p:nvPr/>
        </p:nvSpPr>
        <p:spPr>
          <a:xfrm>
            <a:off x="1066800" y="2812197"/>
            <a:ext cx="6858000" cy="1754326"/>
          </a:xfrm>
          <a:prstGeom prst="rect">
            <a:avLst/>
          </a:prstGeom>
          <a:noFill/>
        </p:spPr>
        <p:txBody>
          <a:bodyPr wrap="square" rtlCol="0">
            <a:spAutoFit/>
          </a:bodyPr>
          <a:lstStyle/>
          <a:p>
            <a:r>
              <a:rPr lang="en-US" dirty="0" err="1">
                <a:latin typeface="Tw Cen MT Condensed" pitchFamily="34" charset="0"/>
              </a:rPr>
              <a:t>Q_vent</a:t>
            </a:r>
            <a:r>
              <a:rPr lang="en-US" dirty="0">
                <a:latin typeface="Tw Cen MT Condensed" pitchFamily="34" charset="0"/>
              </a:rPr>
              <a:t>(t): ventilation heating/cooling load [W]</a:t>
            </a:r>
          </a:p>
          <a:p>
            <a:r>
              <a:rPr lang="el-GR" dirty="0">
                <a:latin typeface="Tw Cen MT Condensed" pitchFamily="34" charset="0"/>
              </a:rPr>
              <a:t>ρ: </a:t>
            </a:r>
            <a:r>
              <a:rPr lang="en-US" dirty="0">
                <a:latin typeface="Tw Cen MT Condensed" pitchFamily="34" charset="0"/>
              </a:rPr>
              <a:t>air density (1.2 kg/m³)</a:t>
            </a:r>
          </a:p>
          <a:p>
            <a:r>
              <a:rPr lang="en-US" dirty="0" err="1">
                <a:latin typeface="Tw Cen MT Condensed" pitchFamily="34" charset="0"/>
              </a:rPr>
              <a:t>c_p</a:t>
            </a:r>
            <a:r>
              <a:rPr lang="en-US" dirty="0">
                <a:latin typeface="Tw Cen MT Condensed" pitchFamily="34" charset="0"/>
              </a:rPr>
              <a:t>: specific heat of air (1005 J/</a:t>
            </a:r>
            <a:r>
              <a:rPr lang="en-US" dirty="0" err="1">
                <a:latin typeface="Tw Cen MT Condensed" pitchFamily="34" charset="0"/>
              </a:rPr>
              <a:t>kg·K</a:t>
            </a:r>
            <a:r>
              <a:rPr lang="en-US" dirty="0">
                <a:latin typeface="Tw Cen MT Condensed" pitchFamily="34" charset="0"/>
              </a:rPr>
              <a:t>)</a:t>
            </a:r>
          </a:p>
          <a:p>
            <a:r>
              <a:rPr lang="en-US" dirty="0">
                <a:latin typeface="Tw Cen MT Condensed" pitchFamily="34" charset="0"/>
              </a:rPr>
              <a:t>V̇(t): supply airflow [m³/s]</a:t>
            </a:r>
          </a:p>
          <a:p>
            <a:r>
              <a:rPr lang="en-US" dirty="0" err="1">
                <a:latin typeface="Tw Cen MT Condensed" pitchFamily="34" charset="0"/>
              </a:rPr>
              <a:t>T_set</a:t>
            </a:r>
            <a:r>
              <a:rPr lang="en-US" dirty="0">
                <a:latin typeface="Tw Cen MT Condensed" pitchFamily="34" charset="0"/>
              </a:rPr>
              <a:t>: indoor set point temperature [°C]</a:t>
            </a:r>
          </a:p>
          <a:p>
            <a:r>
              <a:rPr lang="en-US" dirty="0" err="1">
                <a:latin typeface="Tw Cen MT Condensed" pitchFamily="34" charset="0"/>
              </a:rPr>
              <a:t>T_out</a:t>
            </a:r>
            <a:r>
              <a:rPr lang="en-US" dirty="0">
                <a:latin typeface="Tw Cen MT Condensed" pitchFamily="34" charset="0"/>
              </a:rPr>
              <a:t>(t): outdoor temperature [°C]</a:t>
            </a:r>
            <a:endParaRPr lang="en-US" dirty="0"/>
          </a:p>
        </p:txBody>
      </p:sp>
    </p:spTree>
    <p:extLst>
      <p:ext uri="{BB962C8B-B14F-4D97-AF65-F5344CB8AC3E}">
        <p14:creationId xmlns:p14="http://schemas.microsoft.com/office/powerpoint/2010/main" val="1042508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Envelope (Conductive) Thermal Load</a:t>
            </a:r>
          </a:p>
        </p:txBody>
      </p:sp>
      <p:sp>
        <p:nvSpPr>
          <p:cNvPr id="4" name="TextBox 3"/>
          <p:cNvSpPr txBox="1"/>
          <p:nvPr/>
        </p:nvSpPr>
        <p:spPr>
          <a:xfrm>
            <a:off x="914400" y="1981200"/>
            <a:ext cx="7543800" cy="1200329"/>
          </a:xfrm>
          <a:prstGeom prst="rect">
            <a:avLst/>
          </a:prstGeom>
          <a:noFill/>
        </p:spPr>
        <p:txBody>
          <a:bodyPr wrap="square" rtlCol="0">
            <a:spAutoFit/>
          </a:bodyPr>
          <a:lstStyle/>
          <a:p>
            <a:r>
              <a:rPr lang="en-US" sz="2400" dirty="0" err="1"/>
              <a:t>Q_env</a:t>
            </a:r>
            <a:r>
              <a:rPr lang="en-US" sz="2400" dirty="0"/>
              <a:t>(t) = U* A * (</a:t>
            </a:r>
            <a:r>
              <a:rPr lang="en-US" sz="2400" dirty="0" err="1"/>
              <a:t>T_set</a:t>
            </a:r>
            <a:r>
              <a:rPr lang="en-US" sz="2400" dirty="0"/>
              <a:t> - </a:t>
            </a:r>
            <a:r>
              <a:rPr lang="en-US" sz="2400" dirty="0" err="1"/>
              <a:t>T_out</a:t>
            </a:r>
            <a:r>
              <a:rPr lang="en-US" sz="2400" dirty="0"/>
              <a:t>(t))</a:t>
            </a:r>
          </a:p>
          <a:p>
            <a:endParaRPr lang="en-US" sz="2400" dirty="0"/>
          </a:p>
          <a:p>
            <a:endParaRPr lang="en-US" sz="2400" dirty="0">
              <a:latin typeface="Tw Cen MT" pitchFamily="34" charset="0"/>
            </a:endParaRPr>
          </a:p>
        </p:txBody>
      </p:sp>
      <p:sp>
        <p:nvSpPr>
          <p:cNvPr id="5" name="TextBox 4"/>
          <p:cNvSpPr txBox="1"/>
          <p:nvPr/>
        </p:nvSpPr>
        <p:spPr>
          <a:xfrm>
            <a:off x="1066800" y="2812197"/>
            <a:ext cx="6858000" cy="1754326"/>
          </a:xfrm>
          <a:prstGeom prst="rect">
            <a:avLst/>
          </a:prstGeom>
          <a:noFill/>
        </p:spPr>
        <p:txBody>
          <a:bodyPr wrap="square" rtlCol="0">
            <a:spAutoFit/>
          </a:bodyPr>
          <a:lstStyle/>
          <a:p>
            <a:r>
              <a:rPr lang="en-US" dirty="0" err="1">
                <a:latin typeface="Tw Cen MT Condensed" pitchFamily="34" charset="0"/>
              </a:rPr>
              <a:t>Q_env</a:t>
            </a:r>
            <a:r>
              <a:rPr lang="en-US" dirty="0">
                <a:latin typeface="Tw Cen MT Condensed" pitchFamily="34" charset="0"/>
              </a:rPr>
              <a:t>(t): envelope heat transfer load [W]</a:t>
            </a:r>
          </a:p>
          <a:p>
            <a:r>
              <a:rPr lang="en-US" dirty="0">
                <a:latin typeface="Tw Cen MT Condensed" pitchFamily="34" charset="0"/>
              </a:rPr>
              <a:t>U: overall heat transfer coefficient [W/m²·K]</a:t>
            </a:r>
          </a:p>
          <a:p>
            <a:r>
              <a:rPr lang="en-US" dirty="0">
                <a:latin typeface="Tw Cen MT Condensed" pitchFamily="34" charset="0"/>
              </a:rPr>
              <a:t>A: envelope area [m²]</a:t>
            </a:r>
          </a:p>
          <a:p>
            <a:r>
              <a:rPr lang="en-US" dirty="0">
                <a:latin typeface="Tw Cen MT Condensed" pitchFamily="34" charset="0"/>
              </a:rPr>
              <a:t>UA: product of U and A [W/K]</a:t>
            </a:r>
          </a:p>
          <a:p>
            <a:r>
              <a:rPr lang="en-US" dirty="0" err="1">
                <a:latin typeface="Tw Cen MT Condensed" pitchFamily="34" charset="0"/>
              </a:rPr>
              <a:t>T_set</a:t>
            </a:r>
            <a:r>
              <a:rPr lang="en-US" dirty="0">
                <a:latin typeface="Tw Cen MT Condensed" pitchFamily="34" charset="0"/>
              </a:rPr>
              <a:t>: </a:t>
            </a:r>
            <a:r>
              <a:rPr lang="en-US">
                <a:latin typeface="Tw Cen MT Condensed" pitchFamily="34" charset="0"/>
              </a:rPr>
              <a:t>indoor set point </a:t>
            </a:r>
            <a:r>
              <a:rPr lang="en-US" dirty="0">
                <a:latin typeface="Tw Cen MT Condensed" pitchFamily="34" charset="0"/>
              </a:rPr>
              <a:t>[°C]</a:t>
            </a:r>
          </a:p>
          <a:p>
            <a:r>
              <a:rPr lang="en-US" dirty="0" err="1">
                <a:latin typeface="Tw Cen MT Condensed" pitchFamily="34" charset="0"/>
              </a:rPr>
              <a:t>T_out</a:t>
            </a:r>
            <a:r>
              <a:rPr lang="en-US" dirty="0">
                <a:latin typeface="Tw Cen MT Condensed" pitchFamily="34" charset="0"/>
              </a:rPr>
              <a:t>(t): outdoor temperature [°C]</a:t>
            </a:r>
          </a:p>
        </p:txBody>
      </p:sp>
    </p:spTree>
    <p:extLst>
      <p:ext uri="{BB962C8B-B14F-4D97-AF65-F5344CB8AC3E}">
        <p14:creationId xmlns:p14="http://schemas.microsoft.com/office/powerpoint/2010/main" val="4158264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Internal Heat Gains</a:t>
            </a:r>
          </a:p>
        </p:txBody>
      </p:sp>
      <p:sp>
        <p:nvSpPr>
          <p:cNvPr id="4" name="TextBox 3"/>
          <p:cNvSpPr txBox="1"/>
          <p:nvPr/>
        </p:nvSpPr>
        <p:spPr>
          <a:xfrm>
            <a:off x="914400" y="1981200"/>
            <a:ext cx="7543800" cy="1569660"/>
          </a:xfrm>
          <a:prstGeom prst="rect">
            <a:avLst/>
          </a:prstGeom>
          <a:noFill/>
        </p:spPr>
        <p:txBody>
          <a:bodyPr wrap="square" rtlCol="0">
            <a:spAutoFit/>
          </a:bodyPr>
          <a:lstStyle/>
          <a:p>
            <a:r>
              <a:rPr lang="fr-FR" sz="2400" dirty="0" err="1"/>
              <a:t>Q_int</a:t>
            </a:r>
            <a:r>
              <a:rPr lang="fr-FR" sz="2400" dirty="0"/>
              <a:t>(t) = N(t) * </a:t>
            </a:r>
            <a:r>
              <a:rPr lang="fr-FR" sz="2400" dirty="0" err="1"/>
              <a:t>q_person</a:t>
            </a:r>
            <a:r>
              <a:rPr lang="fr-FR" sz="2400" dirty="0"/>
              <a:t> + </a:t>
            </a:r>
            <a:r>
              <a:rPr lang="fr-FR" sz="2400" dirty="0" err="1"/>
              <a:t>Q_plug</a:t>
            </a:r>
            <a:r>
              <a:rPr lang="fr-FR" sz="2400" dirty="0"/>
              <a:t> + </a:t>
            </a:r>
            <a:r>
              <a:rPr lang="fr-FR" sz="2400" dirty="0" err="1"/>
              <a:t>Q_light</a:t>
            </a:r>
            <a:endParaRPr lang="fr-FR" sz="2400" dirty="0"/>
          </a:p>
          <a:p>
            <a:endParaRPr lang="fr-FR" sz="2400" dirty="0"/>
          </a:p>
          <a:p>
            <a:endParaRPr lang="en-US" sz="2400" dirty="0"/>
          </a:p>
          <a:p>
            <a:endParaRPr lang="en-US" sz="2400" dirty="0">
              <a:latin typeface="Tw Cen MT" pitchFamily="34" charset="0"/>
            </a:endParaRPr>
          </a:p>
        </p:txBody>
      </p:sp>
      <p:sp>
        <p:nvSpPr>
          <p:cNvPr id="5" name="TextBox 4"/>
          <p:cNvSpPr txBox="1"/>
          <p:nvPr/>
        </p:nvSpPr>
        <p:spPr>
          <a:xfrm>
            <a:off x="1066800" y="2812197"/>
            <a:ext cx="6858000" cy="1477328"/>
          </a:xfrm>
          <a:prstGeom prst="rect">
            <a:avLst/>
          </a:prstGeom>
          <a:noFill/>
        </p:spPr>
        <p:txBody>
          <a:bodyPr wrap="square" rtlCol="0">
            <a:spAutoFit/>
          </a:bodyPr>
          <a:lstStyle/>
          <a:p>
            <a:r>
              <a:rPr lang="en-US" dirty="0" err="1">
                <a:latin typeface="Tw Cen MT Condensed" pitchFamily="34" charset="0"/>
              </a:rPr>
              <a:t>Q_int</a:t>
            </a:r>
            <a:r>
              <a:rPr lang="en-US" dirty="0">
                <a:latin typeface="Tw Cen MT Condensed" pitchFamily="34" charset="0"/>
              </a:rPr>
              <a:t>(t): internal heat gain [W]</a:t>
            </a:r>
          </a:p>
          <a:p>
            <a:r>
              <a:rPr lang="en-US" dirty="0">
                <a:latin typeface="Tw Cen MT Condensed" pitchFamily="34" charset="0"/>
              </a:rPr>
              <a:t>N(t): number of people [persons]</a:t>
            </a:r>
          </a:p>
          <a:p>
            <a:r>
              <a:rPr lang="en-US" dirty="0" err="1">
                <a:latin typeface="Tw Cen MT Condensed" pitchFamily="34" charset="0"/>
              </a:rPr>
              <a:t>q_person</a:t>
            </a:r>
            <a:r>
              <a:rPr lang="en-US" dirty="0">
                <a:latin typeface="Tw Cen MT Condensed" pitchFamily="34" charset="0"/>
              </a:rPr>
              <a:t>: sensible heat per person (60–80 W/person)</a:t>
            </a:r>
          </a:p>
          <a:p>
            <a:r>
              <a:rPr lang="en-US" dirty="0" err="1">
                <a:latin typeface="Tw Cen MT Condensed" pitchFamily="34" charset="0"/>
              </a:rPr>
              <a:t>Q_plug</a:t>
            </a:r>
            <a:r>
              <a:rPr lang="en-US" dirty="0">
                <a:latin typeface="Tw Cen MT Condensed" pitchFamily="34" charset="0"/>
              </a:rPr>
              <a:t>: plug load heat gain [W]</a:t>
            </a:r>
          </a:p>
          <a:p>
            <a:r>
              <a:rPr lang="en-US" dirty="0" err="1">
                <a:latin typeface="Tw Cen MT Condensed" pitchFamily="34" charset="0"/>
              </a:rPr>
              <a:t>Q_light</a:t>
            </a:r>
            <a:r>
              <a:rPr lang="en-US" dirty="0">
                <a:latin typeface="Tw Cen MT Condensed" pitchFamily="34" charset="0"/>
              </a:rPr>
              <a:t>: lighting heat gain [W]</a:t>
            </a:r>
          </a:p>
        </p:txBody>
      </p:sp>
    </p:spTree>
    <p:extLst>
      <p:ext uri="{BB962C8B-B14F-4D97-AF65-F5344CB8AC3E}">
        <p14:creationId xmlns:p14="http://schemas.microsoft.com/office/powerpoint/2010/main" val="2474339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Net Thermal Load</a:t>
            </a:r>
          </a:p>
        </p:txBody>
      </p:sp>
      <p:sp>
        <p:nvSpPr>
          <p:cNvPr id="4" name="TextBox 3"/>
          <p:cNvSpPr txBox="1"/>
          <p:nvPr/>
        </p:nvSpPr>
        <p:spPr>
          <a:xfrm>
            <a:off x="914400" y="1981200"/>
            <a:ext cx="7543800" cy="1938992"/>
          </a:xfrm>
          <a:prstGeom prst="rect">
            <a:avLst/>
          </a:prstGeom>
          <a:noFill/>
        </p:spPr>
        <p:txBody>
          <a:bodyPr wrap="square" rtlCol="0">
            <a:spAutoFit/>
          </a:bodyPr>
          <a:lstStyle/>
          <a:p>
            <a:r>
              <a:rPr lang="fr-FR" sz="2400" dirty="0" err="1"/>
              <a:t>Q_total</a:t>
            </a:r>
            <a:r>
              <a:rPr lang="fr-FR" sz="2400" dirty="0"/>
              <a:t>(t) = </a:t>
            </a:r>
            <a:r>
              <a:rPr lang="fr-FR" sz="2400" dirty="0" err="1"/>
              <a:t>Q_env</a:t>
            </a:r>
            <a:r>
              <a:rPr lang="fr-FR" sz="2400" dirty="0"/>
              <a:t>(t) + </a:t>
            </a:r>
            <a:r>
              <a:rPr lang="fr-FR" sz="2400" dirty="0" err="1"/>
              <a:t>Q_vent</a:t>
            </a:r>
            <a:r>
              <a:rPr lang="fr-FR" sz="2400" dirty="0"/>
              <a:t>(t) - </a:t>
            </a:r>
            <a:r>
              <a:rPr lang="fr-FR" sz="2400" dirty="0" err="1"/>
              <a:t>Q_int</a:t>
            </a:r>
            <a:r>
              <a:rPr lang="fr-FR" sz="2400" dirty="0"/>
              <a:t>(t)</a:t>
            </a:r>
          </a:p>
          <a:p>
            <a:endParaRPr lang="fr-FR" sz="2400" dirty="0"/>
          </a:p>
          <a:p>
            <a:endParaRPr lang="fr-FR" sz="2400" dirty="0"/>
          </a:p>
          <a:p>
            <a:endParaRPr lang="en-US" sz="2400" dirty="0"/>
          </a:p>
          <a:p>
            <a:endParaRPr lang="en-US" sz="2400" dirty="0">
              <a:latin typeface="Tw Cen MT" pitchFamily="34" charset="0"/>
            </a:endParaRPr>
          </a:p>
        </p:txBody>
      </p:sp>
      <p:sp>
        <p:nvSpPr>
          <p:cNvPr id="5" name="TextBox 4"/>
          <p:cNvSpPr txBox="1"/>
          <p:nvPr/>
        </p:nvSpPr>
        <p:spPr>
          <a:xfrm>
            <a:off x="1066800" y="2812197"/>
            <a:ext cx="6858000" cy="923330"/>
          </a:xfrm>
          <a:prstGeom prst="rect">
            <a:avLst/>
          </a:prstGeom>
          <a:noFill/>
        </p:spPr>
        <p:txBody>
          <a:bodyPr wrap="square" rtlCol="0">
            <a:spAutoFit/>
          </a:bodyPr>
          <a:lstStyle/>
          <a:p>
            <a:r>
              <a:rPr lang="en-US" dirty="0" err="1">
                <a:latin typeface="Tw Cen MT Condensed" pitchFamily="34" charset="0"/>
              </a:rPr>
              <a:t>Q_total</a:t>
            </a:r>
            <a:r>
              <a:rPr lang="en-US" dirty="0">
                <a:latin typeface="Tw Cen MT Condensed" pitchFamily="34" charset="0"/>
              </a:rPr>
              <a:t>(t): combined load representing heating/cooling need [W]</a:t>
            </a:r>
          </a:p>
          <a:p>
            <a:r>
              <a:rPr lang="en-US" dirty="0">
                <a:latin typeface="Tw Cen MT Condensed" pitchFamily="34" charset="0"/>
              </a:rPr>
              <a:t>Positive </a:t>
            </a:r>
            <a:r>
              <a:rPr lang="en-US" dirty="0" err="1">
                <a:latin typeface="Tw Cen MT Condensed" pitchFamily="34" charset="0"/>
              </a:rPr>
              <a:t>Q_total</a:t>
            </a:r>
            <a:r>
              <a:rPr lang="en-US" dirty="0">
                <a:latin typeface="Tw Cen MT Condensed" pitchFamily="34" charset="0"/>
              </a:rPr>
              <a:t> → heating required</a:t>
            </a:r>
          </a:p>
          <a:p>
            <a:r>
              <a:rPr lang="en-US" dirty="0">
                <a:latin typeface="Tw Cen MT Condensed" pitchFamily="34" charset="0"/>
              </a:rPr>
              <a:t>Negative </a:t>
            </a:r>
            <a:r>
              <a:rPr lang="en-US" dirty="0" err="1">
                <a:latin typeface="Tw Cen MT Condensed" pitchFamily="34" charset="0"/>
              </a:rPr>
              <a:t>Q_total</a:t>
            </a:r>
            <a:r>
              <a:rPr lang="en-US" dirty="0">
                <a:latin typeface="Tw Cen MT Condensed" pitchFamily="34" charset="0"/>
              </a:rPr>
              <a:t> → cooling required</a:t>
            </a:r>
          </a:p>
        </p:txBody>
      </p:sp>
    </p:spTree>
    <p:extLst>
      <p:ext uri="{BB962C8B-B14F-4D97-AF65-F5344CB8AC3E}">
        <p14:creationId xmlns:p14="http://schemas.microsoft.com/office/powerpoint/2010/main" val="251031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Heating Load &amp; Energy</a:t>
            </a:r>
          </a:p>
        </p:txBody>
      </p:sp>
      <p:sp>
        <p:nvSpPr>
          <p:cNvPr id="4" name="TextBox 3"/>
          <p:cNvSpPr txBox="1"/>
          <p:nvPr/>
        </p:nvSpPr>
        <p:spPr>
          <a:xfrm>
            <a:off x="914400" y="1981200"/>
            <a:ext cx="7543800" cy="1938992"/>
          </a:xfrm>
          <a:prstGeom prst="rect">
            <a:avLst/>
          </a:prstGeom>
          <a:noFill/>
        </p:spPr>
        <p:txBody>
          <a:bodyPr wrap="square" rtlCol="0">
            <a:spAutoFit/>
          </a:bodyPr>
          <a:lstStyle/>
          <a:p>
            <a:r>
              <a:rPr lang="en-US" sz="2400" dirty="0" err="1"/>
              <a:t>Q_heat</a:t>
            </a:r>
            <a:r>
              <a:rPr lang="en-US" sz="2400" dirty="0"/>
              <a:t>(t) = max(0, </a:t>
            </a:r>
            <a:r>
              <a:rPr lang="en-US" sz="2400" dirty="0" err="1"/>
              <a:t>Q_total</a:t>
            </a:r>
            <a:r>
              <a:rPr lang="en-US" sz="2400" dirty="0"/>
              <a:t>(t))</a:t>
            </a:r>
          </a:p>
          <a:p>
            <a:r>
              <a:rPr lang="en-US" sz="2400" dirty="0" err="1"/>
              <a:t>E_heat</a:t>
            </a:r>
            <a:r>
              <a:rPr lang="en-US" sz="2400" dirty="0"/>
              <a:t> = Σ[ </a:t>
            </a:r>
            <a:r>
              <a:rPr lang="en-US" sz="2400" dirty="0" err="1"/>
              <a:t>Q_heat</a:t>
            </a:r>
            <a:r>
              <a:rPr lang="en-US" sz="2400" dirty="0"/>
              <a:t>(t) * </a:t>
            </a:r>
            <a:r>
              <a:rPr lang="en-US" sz="2400" dirty="0" err="1"/>
              <a:t>Δt</a:t>
            </a:r>
            <a:r>
              <a:rPr lang="en-US" sz="2400" dirty="0"/>
              <a:t> ] / </a:t>
            </a:r>
            <a:r>
              <a:rPr lang="en-US" sz="2400" dirty="0" err="1"/>
              <a:t>η_heat</a:t>
            </a:r>
            <a:endParaRPr lang="en-US" sz="2400" dirty="0"/>
          </a:p>
          <a:p>
            <a:endParaRPr lang="fr-FR" sz="2400" dirty="0"/>
          </a:p>
          <a:p>
            <a:endParaRPr lang="en-US" sz="2400" dirty="0"/>
          </a:p>
          <a:p>
            <a:endParaRPr lang="en-US" sz="2400" dirty="0">
              <a:latin typeface="Tw Cen MT" pitchFamily="34" charset="0"/>
            </a:endParaRPr>
          </a:p>
        </p:txBody>
      </p:sp>
      <p:sp>
        <p:nvSpPr>
          <p:cNvPr id="5" name="TextBox 4"/>
          <p:cNvSpPr txBox="1"/>
          <p:nvPr/>
        </p:nvSpPr>
        <p:spPr>
          <a:xfrm>
            <a:off x="914400" y="3124199"/>
            <a:ext cx="6858000" cy="1200329"/>
          </a:xfrm>
          <a:prstGeom prst="rect">
            <a:avLst/>
          </a:prstGeom>
          <a:noFill/>
        </p:spPr>
        <p:txBody>
          <a:bodyPr wrap="square" rtlCol="0">
            <a:spAutoFit/>
          </a:bodyPr>
          <a:lstStyle/>
          <a:p>
            <a:r>
              <a:rPr lang="en-US" dirty="0" err="1">
                <a:latin typeface="Tw Cen MT Condensed" pitchFamily="34" charset="0"/>
              </a:rPr>
              <a:t>Q_heat</a:t>
            </a:r>
            <a:r>
              <a:rPr lang="en-US" dirty="0">
                <a:latin typeface="Tw Cen MT Condensed" pitchFamily="34" charset="0"/>
              </a:rPr>
              <a:t>(t): instantaneous heating power [W]</a:t>
            </a:r>
          </a:p>
          <a:p>
            <a:r>
              <a:rPr lang="en-US" dirty="0" err="1">
                <a:latin typeface="Tw Cen MT Condensed" pitchFamily="34" charset="0"/>
              </a:rPr>
              <a:t>E_heat</a:t>
            </a:r>
            <a:r>
              <a:rPr lang="en-US" dirty="0">
                <a:latin typeface="Tw Cen MT Condensed" pitchFamily="34" charset="0"/>
              </a:rPr>
              <a:t>: total heating energy [J or kWh]</a:t>
            </a:r>
          </a:p>
          <a:p>
            <a:r>
              <a:rPr lang="en-US" dirty="0" err="1">
                <a:latin typeface="Tw Cen MT Condensed" pitchFamily="34" charset="0"/>
              </a:rPr>
              <a:t>Δt</a:t>
            </a:r>
            <a:r>
              <a:rPr lang="en-US" dirty="0">
                <a:latin typeface="Tw Cen MT Condensed" pitchFamily="34" charset="0"/>
              </a:rPr>
              <a:t>: </a:t>
            </a:r>
            <a:r>
              <a:rPr lang="en-US" dirty="0" err="1">
                <a:latin typeface="Tw Cen MT Condensed" pitchFamily="34" charset="0"/>
              </a:rPr>
              <a:t>timestep</a:t>
            </a:r>
            <a:r>
              <a:rPr lang="en-US" dirty="0">
                <a:latin typeface="Tw Cen MT Condensed" pitchFamily="34" charset="0"/>
              </a:rPr>
              <a:t> [s]</a:t>
            </a:r>
          </a:p>
          <a:p>
            <a:r>
              <a:rPr lang="en-US" dirty="0" err="1">
                <a:latin typeface="Tw Cen MT Condensed" pitchFamily="34" charset="0"/>
              </a:rPr>
              <a:t>η_heat</a:t>
            </a:r>
            <a:r>
              <a:rPr lang="en-US" dirty="0">
                <a:latin typeface="Tw Cen MT Condensed" pitchFamily="34" charset="0"/>
              </a:rPr>
              <a:t>: heating system efficiency (0.8–0.95)</a:t>
            </a:r>
          </a:p>
        </p:txBody>
      </p:sp>
    </p:spTree>
    <p:extLst>
      <p:ext uri="{BB962C8B-B14F-4D97-AF65-F5344CB8AC3E}">
        <p14:creationId xmlns:p14="http://schemas.microsoft.com/office/powerpoint/2010/main" val="2048125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Cooling Load &amp; Energy</a:t>
            </a:r>
          </a:p>
        </p:txBody>
      </p:sp>
      <p:sp>
        <p:nvSpPr>
          <p:cNvPr id="4" name="TextBox 3"/>
          <p:cNvSpPr txBox="1"/>
          <p:nvPr/>
        </p:nvSpPr>
        <p:spPr>
          <a:xfrm>
            <a:off x="933635" y="1444152"/>
            <a:ext cx="7543800" cy="2308324"/>
          </a:xfrm>
          <a:prstGeom prst="rect">
            <a:avLst/>
          </a:prstGeom>
          <a:noFill/>
        </p:spPr>
        <p:txBody>
          <a:bodyPr wrap="square" rtlCol="0">
            <a:spAutoFit/>
          </a:bodyPr>
          <a:lstStyle/>
          <a:p>
            <a:endParaRPr lang="en-US" sz="2400" dirty="0"/>
          </a:p>
          <a:p>
            <a:r>
              <a:rPr lang="en-US" sz="2400" dirty="0" err="1"/>
              <a:t>Q_cool</a:t>
            </a:r>
            <a:r>
              <a:rPr lang="en-US" sz="2400" dirty="0"/>
              <a:t>(t) = max(0, -</a:t>
            </a:r>
            <a:r>
              <a:rPr lang="en-US" sz="2400" dirty="0" err="1"/>
              <a:t>Q_total</a:t>
            </a:r>
            <a:r>
              <a:rPr lang="en-US" sz="2400" dirty="0"/>
              <a:t>(t))</a:t>
            </a:r>
          </a:p>
          <a:p>
            <a:r>
              <a:rPr lang="en-US" sz="2400" dirty="0" err="1"/>
              <a:t>E_cool</a:t>
            </a:r>
            <a:r>
              <a:rPr lang="en-US" sz="2400" dirty="0"/>
              <a:t> = </a:t>
            </a:r>
            <a:r>
              <a:rPr lang="el-GR" sz="2400" dirty="0"/>
              <a:t>Σ[ </a:t>
            </a:r>
            <a:r>
              <a:rPr lang="en-US" sz="2400" dirty="0" err="1"/>
              <a:t>Q_cool</a:t>
            </a:r>
            <a:r>
              <a:rPr lang="en-US" sz="2400" dirty="0"/>
              <a:t>(t) * </a:t>
            </a:r>
            <a:r>
              <a:rPr lang="el-GR" sz="2400" dirty="0"/>
              <a:t>Δ</a:t>
            </a:r>
            <a:r>
              <a:rPr lang="en-US" sz="2400" dirty="0"/>
              <a:t>t ] / </a:t>
            </a:r>
            <a:r>
              <a:rPr lang="en-US" sz="2400" dirty="0" err="1"/>
              <a:t>COP_cool</a:t>
            </a:r>
            <a:endParaRPr lang="en-US" sz="2400" dirty="0"/>
          </a:p>
          <a:p>
            <a:endParaRPr lang="fr-FR" sz="2400" dirty="0"/>
          </a:p>
          <a:p>
            <a:endParaRPr lang="en-US" sz="2400" dirty="0"/>
          </a:p>
          <a:p>
            <a:endParaRPr lang="en-US" sz="2400" dirty="0">
              <a:latin typeface="Tw Cen MT" pitchFamily="34" charset="0"/>
            </a:endParaRPr>
          </a:p>
        </p:txBody>
      </p:sp>
      <p:sp>
        <p:nvSpPr>
          <p:cNvPr id="5" name="TextBox 4"/>
          <p:cNvSpPr txBox="1"/>
          <p:nvPr/>
        </p:nvSpPr>
        <p:spPr>
          <a:xfrm>
            <a:off x="914400" y="3124199"/>
            <a:ext cx="6858000" cy="923330"/>
          </a:xfrm>
          <a:prstGeom prst="rect">
            <a:avLst/>
          </a:prstGeom>
          <a:noFill/>
        </p:spPr>
        <p:txBody>
          <a:bodyPr wrap="square" rtlCol="0">
            <a:spAutoFit/>
          </a:bodyPr>
          <a:lstStyle/>
          <a:p>
            <a:r>
              <a:rPr lang="en-US" dirty="0" err="1">
                <a:latin typeface="Tw Cen MT Condensed" pitchFamily="34" charset="0"/>
              </a:rPr>
              <a:t>Q_cool</a:t>
            </a:r>
            <a:r>
              <a:rPr lang="en-US" dirty="0">
                <a:latin typeface="Tw Cen MT Condensed" pitchFamily="34" charset="0"/>
              </a:rPr>
              <a:t>(t): instantaneous cooling power [W]</a:t>
            </a:r>
          </a:p>
          <a:p>
            <a:r>
              <a:rPr lang="en-US" dirty="0" err="1">
                <a:latin typeface="Tw Cen MT Condensed" pitchFamily="34" charset="0"/>
              </a:rPr>
              <a:t>E_cool</a:t>
            </a:r>
            <a:r>
              <a:rPr lang="en-US" dirty="0">
                <a:latin typeface="Tw Cen MT Condensed" pitchFamily="34" charset="0"/>
              </a:rPr>
              <a:t>: cooling electricity consumption [J or kWh]</a:t>
            </a:r>
          </a:p>
          <a:p>
            <a:r>
              <a:rPr lang="en-US" dirty="0" err="1">
                <a:latin typeface="Tw Cen MT Condensed" pitchFamily="34" charset="0"/>
              </a:rPr>
              <a:t>COP_cool</a:t>
            </a:r>
            <a:r>
              <a:rPr lang="en-US" dirty="0">
                <a:latin typeface="Tw Cen MT Condensed" pitchFamily="34" charset="0"/>
              </a:rPr>
              <a:t>: cooling system coefficient of performance (2–4)</a:t>
            </a:r>
          </a:p>
        </p:txBody>
      </p:sp>
    </p:spTree>
    <p:extLst>
      <p:ext uri="{BB962C8B-B14F-4D97-AF65-F5344CB8AC3E}">
        <p14:creationId xmlns:p14="http://schemas.microsoft.com/office/powerpoint/2010/main" val="1483259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66800"/>
            <a:ext cx="5638800" cy="461665"/>
          </a:xfrm>
          <a:prstGeom prst="rect">
            <a:avLst/>
          </a:prstGeom>
          <a:noFill/>
        </p:spPr>
        <p:txBody>
          <a:bodyPr wrap="square" rtlCol="0">
            <a:spAutoFit/>
          </a:bodyPr>
          <a:lstStyle/>
          <a:p>
            <a:r>
              <a:rPr lang="en-US" sz="2400" dirty="0">
                <a:latin typeface="Tw Cen MT Condensed" pitchFamily="34" charset="0"/>
              </a:rPr>
              <a:t>Exploratory Data Analysis</a:t>
            </a:r>
          </a:p>
        </p:txBody>
      </p:sp>
      <p:graphicFrame>
        <p:nvGraphicFramePr>
          <p:cNvPr id="3" name="Table 2"/>
          <p:cNvGraphicFramePr>
            <a:graphicFrameLocks noGrp="1"/>
          </p:cNvGraphicFramePr>
          <p:nvPr>
            <p:extLst>
              <p:ext uri="{D42A27DB-BD31-4B8C-83A1-F6EECF244321}">
                <p14:modId xmlns:p14="http://schemas.microsoft.com/office/powerpoint/2010/main" val="3372375135"/>
              </p:ext>
            </p:extLst>
          </p:nvPr>
        </p:nvGraphicFramePr>
        <p:xfrm>
          <a:off x="1143000" y="1752600"/>
          <a:ext cx="7787005" cy="3124200"/>
        </p:xfrm>
        <a:graphic>
          <a:graphicData uri="http://schemas.openxmlformats.org/drawingml/2006/table">
            <a:tbl>
              <a:tblPr firstRow="1" bandRow="1">
                <a:tableStyleId>{5940675A-B579-460E-94D1-54222C63F5DA}</a:tableStyleId>
              </a:tblPr>
              <a:tblGrid>
                <a:gridCol w="1754505">
                  <a:extLst>
                    <a:ext uri="{9D8B030D-6E8A-4147-A177-3AD203B41FA5}">
                      <a16:colId xmlns="" xmlns:a16="http://schemas.microsoft.com/office/drawing/2014/main" val="20000"/>
                    </a:ext>
                  </a:extLst>
                </a:gridCol>
                <a:gridCol w="1206500">
                  <a:extLst>
                    <a:ext uri="{9D8B030D-6E8A-4147-A177-3AD203B41FA5}">
                      <a16:colId xmlns="" xmlns:a16="http://schemas.microsoft.com/office/drawing/2014/main" val="20001"/>
                    </a:ext>
                  </a:extLst>
                </a:gridCol>
                <a:gridCol w="1206500">
                  <a:extLst>
                    <a:ext uri="{9D8B030D-6E8A-4147-A177-3AD203B41FA5}">
                      <a16:colId xmlns="" xmlns:a16="http://schemas.microsoft.com/office/drawing/2014/main" val="20002"/>
                    </a:ext>
                  </a:extLst>
                </a:gridCol>
                <a:gridCol w="1206500">
                  <a:extLst>
                    <a:ext uri="{9D8B030D-6E8A-4147-A177-3AD203B41FA5}">
                      <a16:colId xmlns="" xmlns:a16="http://schemas.microsoft.com/office/drawing/2014/main" val="20003"/>
                    </a:ext>
                  </a:extLst>
                </a:gridCol>
                <a:gridCol w="1206500">
                  <a:extLst>
                    <a:ext uri="{9D8B030D-6E8A-4147-A177-3AD203B41FA5}">
                      <a16:colId xmlns="" xmlns:a16="http://schemas.microsoft.com/office/drawing/2014/main" val="20004"/>
                    </a:ext>
                  </a:extLst>
                </a:gridCol>
                <a:gridCol w="1206500">
                  <a:extLst>
                    <a:ext uri="{9D8B030D-6E8A-4147-A177-3AD203B41FA5}">
                      <a16:colId xmlns="" xmlns:a16="http://schemas.microsoft.com/office/drawing/2014/main" val="20005"/>
                    </a:ext>
                  </a:extLst>
                </a:gridCol>
              </a:tblGrid>
              <a:tr h="1666240">
                <a:tc>
                  <a:txBody>
                    <a:bodyPr/>
                    <a:lstStyle/>
                    <a:p>
                      <a:pPr algn="ctr"/>
                      <a:r>
                        <a:rPr lang="en-US" dirty="0"/>
                        <a:t>Room1</a:t>
                      </a:r>
                      <a:r>
                        <a:rPr lang="en-US" baseline="0" dirty="0"/>
                        <a:t> occupancy</a:t>
                      </a:r>
                      <a:endParaRPr lang="en-US" dirty="0"/>
                    </a:p>
                  </a:txBody>
                  <a:tcPr/>
                </a:tc>
                <a:tc>
                  <a:txBody>
                    <a:bodyPr/>
                    <a:lstStyle/>
                    <a:p>
                      <a:pPr algn="ctr"/>
                      <a:r>
                        <a:rPr lang="en-US" sz="1800" b="1" i="0" u="none" strike="noStrike" kern="1200" baseline="0" dirty="0">
                          <a:solidFill>
                            <a:schemeClr val="tx1"/>
                          </a:solidFill>
                          <a:latin typeface="+mn-lt"/>
                          <a:ea typeface="+mn-ea"/>
                          <a:cs typeface="+mn-cs"/>
                        </a:rPr>
                        <a:t>Min value</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Max value</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Standard deviation </a:t>
                      </a:r>
                    </a:p>
                    <a:p>
                      <a:pPr algn="ctr"/>
                      <a:endParaRPr lang="en-US" dirty="0"/>
                    </a:p>
                  </a:txBody>
                  <a:tcPr/>
                </a:tc>
                <a:tc>
                  <a:txBody>
                    <a:bodyPr/>
                    <a:lstStyle/>
                    <a:p>
                      <a:pPr algn="ctr"/>
                      <a:r>
                        <a:rPr lang="en-US" sz="1800" b="1" i="0" u="none" strike="noStrike" kern="1200" baseline="0" dirty="0">
                          <a:solidFill>
                            <a:schemeClr val="tx1"/>
                          </a:solidFill>
                          <a:latin typeface="+mn-lt"/>
                          <a:ea typeface="+mn-ea"/>
                          <a:cs typeface="+mn-cs"/>
                        </a:rPr>
                        <a:t>Skew </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Kurtosis</a:t>
                      </a:r>
                      <a:endParaRPr lang="en-US" dirty="0"/>
                    </a:p>
                    <a:p>
                      <a:pPr algn="ctr"/>
                      <a:endParaRPr lang="en-US" dirty="0"/>
                    </a:p>
                  </a:txBody>
                  <a:tcPr/>
                </a:tc>
                <a:extLst>
                  <a:ext uri="{0D108BD9-81ED-4DB2-BD59-A6C34878D82A}">
                    <a16:rowId xmlns="" xmlns:a16="http://schemas.microsoft.com/office/drawing/2014/main" val="10000"/>
                  </a:ext>
                </a:extLst>
              </a:tr>
              <a:tr h="728980">
                <a:tc>
                  <a:txBody>
                    <a:bodyPr/>
                    <a:lstStyle/>
                    <a:p>
                      <a:pPr algn="ctr"/>
                      <a:r>
                        <a:rPr lang="en-US" dirty="0"/>
                        <a:t>My</a:t>
                      </a:r>
                      <a:r>
                        <a:rPr lang="en-US" baseline="0" dirty="0"/>
                        <a:t> </a:t>
                      </a:r>
                      <a:r>
                        <a:rPr lang="en-US" baseline="0" dirty="0" err="1"/>
                        <a:t>calc</a:t>
                      </a:r>
                      <a:endParaRPr lang="en-US" dirty="0"/>
                    </a:p>
                  </a:txBody>
                  <a:tcPr/>
                </a:tc>
                <a:tc>
                  <a:txBody>
                    <a:bodyPr/>
                    <a:lstStyle/>
                    <a:p>
                      <a:pPr algn="ctr"/>
                      <a:r>
                        <a:rPr lang="en-US" sz="1800" b="0" i="0" u="none" strike="noStrike" kern="1200" baseline="0" dirty="0">
                          <a:solidFill>
                            <a:schemeClr val="tx1"/>
                          </a:solidFill>
                          <a:latin typeface="+mn-lt"/>
                          <a:ea typeface="+mn-ea"/>
                          <a:cs typeface="+mn-cs"/>
                        </a:rPr>
                        <a:t>0</a:t>
                      </a:r>
                      <a:endParaRPr lang="en-US" dirty="0"/>
                    </a:p>
                  </a:txBody>
                  <a:tcPr/>
                </a:tc>
                <a:tc>
                  <a:txBody>
                    <a:bodyPr/>
                    <a:lstStyle/>
                    <a:p>
                      <a:pPr algn="ctr"/>
                      <a:r>
                        <a:rPr lang="en-US" sz="1800" b="0" i="0" u="none" strike="noStrike" kern="1200" baseline="0" dirty="0">
                          <a:solidFill>
                            <a:schemeClr val="tx1"/>
                          </a:solidFill>
                          <a:latin typeface="+mn-lt"/>
                          <a:ea typeface="+mn-ea"/>
                          <a:cs typeface="+mn-cs"/>
                        </a:rPr>
                        <a:t>80 </a:t>
                      </a:r>
                      <a:endParaRPr lang="en-US" dirty="0"/>
                    </a:p>
                  </a:txBody>
                  <a:tcPr/>
                </a:tc>
                <a:tc>
                  <a:txBody>
                    <a:bodyPr/>
                    <a:lstStyle/>
                    <a:p>
                      <a:pPr algn="ctr"/>
                      <a:r>
                        <a:rPr lang="en-US" sz="1800" b="0" i="0" u="none" strike="noStrike" kern="1200" baseline="0" dirty="0">
                          <a:solidFill>
                            <a:schemeClr val="tx1"/>
                          </a:solidFill>
                          <a:latin typeface="+mn-lt"/>
                          <a:ea typeface="+mn-ea"/>
                          <a:cs typeface="+mn-cs"/>
                        </a:rPr>
                        <a:t>15.87</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tx1"/>
                          </a:solidFill>
                          <a:latin typeface="+mn-lt"/>
                          <a:ea typeface="+mn-ea"/>
                          <a:cs typeface="+mn-cs"/>
                        </a:rPr>
                        <a:t>2.14</a:t>
                      </a:r>
                      <a:endParaRPr lang="en-US" dirty="0"/>
                    </a:p>
                    <a:p>
                      <a:pPr algn="ctr"/>
                      <a:endParaRPr lang="en-US" dirty="0"/>
                    </a:p>
                  </a:txBody>
                  <a:tcPr/>
                </a:tc>
                <a:tc>
                  <a:txBody>
                    <a:bodyPr/>
                    <a:lstStyle/>
                    <a:p>
                      <a:pPr algn="ctr"/>
                      <a:r>
                        <a:rPr lang="en-US" sz="1800" b="0" i="0" u="none" strike="noStrike" kern="1200" baseline="0" dirty="0">
                          <a:solidFill>
                            <a:schemeClr val="tx1"/>
                          </a:solidFill>
                          <a:latin typeface="+mn-lt"/>
                          <a:ea typeface="+mn-ea"/>
                          <a:cs typeface="+mn-cs"/>
                        </a:rPr>
                        <a:t>3.71</a:t>
                      </a:r>
                      <a:endParaRPr lang="en-US" dirty="0"/>
                    </a:p>
                  </a:txBody>
                  <a:tcPr/>
                </a:tc>
                <a:extLst>
                  <a:ext uri="{0D108BD9-81ED-4DB2-BD59-A6C34878D82A}">
                    <a16:rowId xmlns="" xmlns:a16="http://schemas.microsoft.com/office/drawing/2014/main" val="10001"/>
                  </a:ext>
                </a:extLst>
              </a:tr>
              <a:tr h="728980">
                <a:tc>
                  <a:txBody>
                    <a:bodyPr/>
                    <a:lstStyle/>
                    <a:p>
                      <a:pPr algn="ctr"/>
                      <a:r>
                        <a:rPr lang="en-US" dirty="0"/>
                        <a:t>Literature</a:t>
                      </a:r>
                    </a:p>
                  </a:txBody>
                  <a:tcPr/>
                </a:tc>
                <a:tc>
                  <a:txBody>
                    <a:bodyPr/>
                    <a:lstStyle/>
                    <a:p>
                      <a:pPr algn="ctr"/>
                      <a:r>
                        <a:rPr lang="en-US" dirty="0"/>
                        <a:t>0</a:t>
                      </a:r>
                    </a:p>
                  </a:txBody>
                  <a:tcPr/>
                </a:tc>
                <a:tc>
                  <a:txBody>
                    <a:bodyPr/>
                    <a:lstStyle/>
                    <a:p>
                      <a:pPr algn="ctr"/>
                      <a:r>
                        <a:rPr lang="en-US" dirty="0"/>
                        <a:t>80</a:t>
                      </a:r>
                    </a:p>
                  </a:txBody>
                  <a:tcPr/>
                </a:tc>
                <a:tc>
                  <a:txBody>
                    <a:bodyPr/>
                    <a:lstStyle/>
                    <a:p>
                      <a:pPr algn="ctr"/>
                      <a:r>
                        <a:rPr lang="en-US" dirty="0"/>
                        <a:t>16.22</a:t>
                      </a:r>
                    </a:p>
                  </a:txBody>
                  <a:tcPr/>
                </a:tc>
                <a:tc>
                  <a:txBody>
                    <a:bodyPr/>
                    <a:lstStyle/>
                    <a:p>
                      <a:pPr algn="ctr"/>
                      <a:r>
                        <a:rPr lang="en-US" dirty="0"/>
                        <a:t>2.18</a:t>
                      </a:r>
                    </a:p>
                  </a:txBody>
                  <a:tcPr/>
                </a:tc>
                <a:tc>
                  <a:txBody>
                    <a:bodyPr/>
                    <a:lstStyle/>
                    <a:p>
                      <a:pPr algn="ctr"/>
                      <a:r>
                        <a:rPr lang="en-US" dirty="0"/>
                        <a:t>3.96</a:t>
                      </a:r>
                    </a:p>
                  </a:txBody>
                  <a:tcPr/>
                </a:tc>
                <a:extLst>
                  <a:ext uri="{0D108BD9-81ED-4DB2-BD59-A6C34878D82A}">
                    <a16:rowId xmlns="" xmlns:a16="http://schemas.microsoft.com/office/drawing/2014/main" val="10002"/>
                  </a:ext>
                </a:extLst>
              </a:tr>
            </a:tbl>
          </a:graphicData>
        </a:graphic>
      </p:graphicFrame>
      <p:sp>
        <p:nvSpPr>
          <p:cNvPr id="4" name="TextBox 3"/>
          <p:cNvSpPr txBox="1"/>
          <p:nvPr/>
        </p:nvSpPr>
        <p:spPr>
          <a:xfrm>
            <a:off x="1066800" y="4953000"/>
            <a:ext cx="5638800" cy="369332"/>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sourced dataset resembles the prior published result</a:t>
            </a:r>
            <a:endParaRPr lang="en-US" dirty="0">
              <a:latin typeface="Tw Cen MT Condensed" pitchFamily="34" charset="0"/>
            </a:endParaRPr>
          </a:p>
        </p:txBody>
      </p:sp>
    </p:spTree>
    <p:extLst>
      <p:ext uri="{BB962C8B-B14F-4D97-AF65-F5344CB8AC3E}">
        <p14:creationId xmlns:p14="http://schemas.microsoft.com/office/powerpoint/2010/main" val="2408850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066800"/>
            <a:ext cx="5638800" cy="461665"/>
          </a:xfrm>
          <a:prstGeom prst="rect">
            <a:avLst/>
          </a:prstGeom>
          <a:noFill/>
        </p:spPr>
        <p:txBody>
          <a:bodyPr wrap="square" rtlCol="0">
            <a:spAutoFit/>
          </a:bodyPr>
          <a:lstStyle/>
          <a:p>
            <a:r>
              <a:rPr lang="en-US" sz="2400" dirty="0" smtClean="0">
                <a:latin typeface="Tw Cen MT Condensed" pitchFamily="34" charset="0"/>
              </a:rPr>
              <a:t>V1-Occupancy </a:t>
            </a:r>
            <a:r>
              <a:rPr lang="en-US" sz="2400" dirty="0">
                <a:latin typeface="Tw Cen MT Condensed" pitchFamily="34" charset="0"/>
              </a:rPr>
              <a:t>Sampling (10 MC run)</a:t>
            </a:r>
          </a:p>
        </p:txBody>
      </p:sp>
      <p:graphicFrame>
        <p:nvGraphicFramePr>
          <p:cNvPr id="3" name="Table 2">
            <a:extLst>
              <a:ext uri="{FF2B5EF4-FFF2-40B4-BE49-F238E27FC236}">
                <a16:creationId xmlns="" xmlns:a16="http://schemas.microsoft.com/office/drawing/2014/main" id="{58AC8864-17E4-56E3-19BB-2E909D05D6D1}"/>
              </a:ext>
            </a:extLst>
          </p:cNvPr>
          <p:cNvGraphicFramePr>
            <a:graphicFrameLocks noGrp="1"/>
          </p:cNvGraphicFramePr>
          <p:nvPr>
            <p:extLst>
              <p:ext uri="{D42A27DB-BD31-4B8C-83A1-F6EECF244321}">
                <p14:modId xmlns:p14="http://schemas.microsoft.com/office/powerpoint/2010/main" val="3657844788"/>
              </p:ext>
            </p:extLst>
          </p:nvPr>
        </p:nvGraphicFramePr>
        <p:xfrm>
          <a:off x="914400" y="1866900"/>
          <a:ext cx="7787005" cy="3124200"/>
        </p:xfrm>
        <a:graphic>
          <a:graphicData uri="http://schemas.openxmlformats.org/drawingml/2006/table">
            <a:tbl>
              <a:tblPr firstRow="1" bandRow="1">
                <a:tableStyleId>{5940675A-B579-460E-94D1-54222C63F5DA}</a:tableStyleId>
              </a:tblPr>
              <a:tblGrid>
                <a:gridCol w="1754505">
                  <a:extLst>
                    <a:ext uri="{9D8B030D-6E8A-4147-A177-3AD203B41FA5}">
                      <a16:colId xmlns="" xmlns:a16="http://schemas.microsoft.com/office/drawing/2014/main" val="20000"/>
                    </a:ext>
                  </a:extLst>
                </a:gridCol>
                <a:gridCol w="1206500">
                  <a:extLst>
                    <a:ext uri="{9D8B030D-6E8A-4147-A177-3AD203B41FA5}">
                      <a16:colId xmlns="" xmlns:a16="http://schemas.microsoft.com/office/drawing/2014/main" val="20001"/>
                    </a:ext>
                  </a:extLst>
                </a:gridCol>
                <a:gridCol w="1206500">
                  <a:extLst>
                    <a:ext uri="{9D8B030D-6E8A-4147-A177-3AD203B41FA5}">
                      <a16:colId xmlns="" xmlns:a16="http://schemas.microsoft.com/office/drawing/2014/main" val="20002"/>
                    </a:ext>
                  </a:extLst>
                </a:gridCol>
                <a:gridCol w="1206500">
                  <a:extLst>
                    <a:ext uri="{9D8B030D-6E8A-4147-A177-3AD203B41FA5}">
                      <a16:colId xmlns="" xmlns:a16="http://schemas.microsoft.com/office/drawing/2014/main" val="20003"/>
                    </a:ext>
                  </a:extLst>
                </a:gridCol>
                <a:gridCol w="1206500">
                  <a:extLst>
                    <a:ext uri="{9D8B030D-6E8A-4147-A177-3AD203B41FA5}">
                      <a16:colId xmlns="" xmlns:a16="http://schemas.microsoft.com/office/drawing/2014/main" val="20004"/>
                    </a:ext>
                  </a:extLst>
                </a:gridCol>
                <a:gridCol w="1206500">
                  <a:extLst>
                    <a:ext uri="{9D8B030D-6E8A-4147-A177-3AD203B41FA5}">
                      <a16:colId xmlns="" xmlns:a16="http://schemas.microsoft.com/office/drawing/2014/main" val="20005"/>
                    </a:ext>
                  </a:extLst>
                </a:gridCol>
              </a:tblGrid>
              <a:tr h="1666240">
                <a:tc>
                  <a:txBody>
                    <a:bodyPr/>
                    <a:lstStyle/>
                    <a:p>
                      <a:pPr algn="ctr"/>
                      <a:r>
                        <a:rPr lang="en-US" dirty="0"/>
                        <a:t>Room1</a:t>
                      </a:r>
                      <a:r>
                        <a:rPr lang="en-US" baseline="0" dirty="0"/>
                        <a:t> occupancy</a:t>
                      </a:r>
                      <a:endParaRPr lang="en-US" dirty="0"/>
                    </a:p>
                  </a:txBody>
                  <a:tcPr/>
                </a:tc>
                <a:tc>
                  <a:txBody>
                    <a:bodyPr/>
                    <a:lstStyle/>
                    <a:p>
                      <a:pPr algn="ctr"/>
                      <a:r>
                        <a:rPr lang="en-US" sz="1800" b="1" i="0" u="none" strike="noStrike" kern="1200" baseline="0" dirty="0">
                          <a:solidFill>
                            <a:schemeClr val="tx1"/>
                          </a:solidFill>
                          <a:latin typeface="+mn-lt"/>
                          <a:ea typeface="+mn-ea"/>
                          <a:cs typeface="+mn-cs"/>
                        </a:rPr>
                        <a:t>Min value</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Max value</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Standard deviation </a:t>
                      </a:r>
                    </a:p>
                    <a:p>
                      <a:pPr algn="ctr"/>
                      <a:endParaRPr lang="en-US" dirty="0"/>
                    </a:p>
                  </a:txBody>
                  <a:tcPr/>
                </a:tc>
                <a:tc>
                  <a:txBody>
                    <a:bodyPr/>
                    <a:lstStyle/>
                    <a:p>
                      <a:pPr algn="ctr"/>
                      <a:r>
                        <a:rPr lang="en-US" sz="1800" b="1" i="0" u="none" strike="noStrike" kern="1200" baseline="0" dirty="0">
                          <a:solidFill>
                            <a:schemeClr val="tx1"/>
                          </a:solidFill>
                          <a:latin typeface="+mn-lt"/>
                          <a:ea typeface="+mn-ea"/>
                          <a:cs typeface="+mn-cs"/>
                        </a:rPr>
                        <a:t>Skew </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Kurtosis</a:t>
                      </a:r>
                      <a:endParaRPr lang="en-US" dirty="0"/>
                    </a:p>
                    <a:p>
                      <a:pPr algn="ctr"/>
                      <a:endParaRPr lang="en-US" dirty="0"/>
                    </a:p>
                  </a:txBody>
                  <a:tcPr/>
                </a:tc>
                <a:extLst>
                  <a:ext uri="{0D108BD9-81ED-4DB2-BD59-A6C34878D82A}">
                    <a16:rowId xmlns="" xmlns:a16="http://schemas.microsoft.com/office/drawing/2014/main" val="10000"/>
                  </a:ext>
                </a:extLst>
              </a:tr>
              <a:tr h="728980">
                <a:tc>
                  <a:txBody>
                    <a:bodyPr/>
                    <a:lstStyle/>
                    <a:p>
                      <a:pPr algn="ctr"/>
                      <a:r>
                        <a:rPr lang="en-US" dirty="0"/>
                        <a:t>Bootstrapped</a:t>
                      </a:r>
                    </a:p>
                  </a:txBody>
                  <a:tcPr/>
                </a:tc>
                <a:tc>
                  <a:txBody>
                    <a:bodyPr/>
                    <a:lstStyle/>
                    <a:p>
                      <a:pPr algn="ctr"/>
                      <a:r>
                        <a:rPr lang="en-US" sz="1800" b="0" i="0" u="none" strike="noStrike" kern="1200" baseline="0" dirty="0">
                          <a:solidFill>
                            <a:schemeClr val="tx1"/>
                          </a:solidFill>
                          <a:latin typeface="+mn-lt"/>
                          <a:ea typeface="+mn-ea"/>
                          <a:cs typeface="+mn-cs"/>
                        </a:rPr>
                        <a:t>0</a:t>
                      </a: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78.533</a:t>
                      </a: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15.60</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smtClean="0">
                          <a:solidFill>
                            <a:schemeClr val="tx1"/>
                          </a:solidFill>
                          <a:latin typeface="+mn-lt"/>
                          <a:ea typeface="+mn-ea"/>
                          <a:cs typeface="+mn-cs"/>
                        </a:rPr>
                        <a:t>2.159</a:t>
                      </a:r>
                      <a:endParaRPr lang="en-US" dirty="0"/>
                    </a:p>
                    <a:p>
                      <a:pPr algn="ct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3.912</a:t>
                      </a:r>
                      <a:endParaRPr lang="en-US" dirty="0"/>
                    </a:p>
                  </a:txBody>
                  <a:tcPr/>
                </a:tc>
                <a:extLst>
                  <a:ext uri="{0D108BD9-81ED-4DB2-BD59-A6C34878D82A}">
                    <a16:rowId xmlns="" xmlns:a16="http://schemas.microsoft.com/office/drawing/2014/main" val="10001"/>
                  </a:ext>
                </a:extLst>
              </a:tr>
              <a:tr h="728980">
                <a:tc>
                  <a:txBody>
                    <a:bodyPr/>
                    <a:lstStyle/>
                    <a:p>
                      <a:pPr algn="ctr"/>
                      <a:r>
                        <a:rPr lang="en-US" dirty="0"/>
                        <a:t>Literature</a:t>
                      </a:r>
                    </a:p>
                  </a:txBody>
                  <a:tcPr/>
                </a:tc>
                <a:tc>
                  <a:txBody>
                    <a:bodyPr/>
                    <a:lstStyle/>
                    <a:p>
                      <a:pPr algn="ctr"/>
                      <a:r>
                        <a:rPr lang="en-US" dirty="0"/>
                        <a:t>0</a:t>
                      </a:r>
                    </a:p>
                  </a:txBody>
                  <a:tcPr/>
                </a:tc>
                <a:tc>
                  <a:txBody>
                    <a:bodyPr/>
                    <a:lstStyle/>
                    <a:p>
                      <a:pPr algn="ctr"/>
                      <a:r>
                        <a:rPr lang="en-US" dirty="0"/>
                        <a:t>80</a:t>
                      </a:r>
                    </a:p>
                  </a:txBody>
                  <a:tcPr/>
                </a:tc>
                <a:tc>
                  <a:txBody>
                    <a:bodyPr/>
                    <a:lstStyle/>
                    <a:p>
                      <a:pPr algn="ctr"/>
                      <a:r>
                        <a:rPr lang="en-US" dirty="0"/>
                        <a:t>16.22</a:t>
                      </a:r>
                    </a:p>
                  </a:txBody>
                  <a:tcPr/>
                </a:tc>
                <a:tc>
                  <a:txBody>
                    <a:bodyPr/>
                    <a:lstStyle/>
                    <a:p>
                      <a:pPr algn="ctr"/>
                      <a:r>
                        <a:rPr lang="en-US" dirty="0"/>
                        <a:t>2.18</a:t>
                      </a:r>
                    </a:p>
                  </a:txBody>
                  <a:tcPr/>
                </a:tc>
                <a:tc>
                  <a:txBody>
                    <a:bodyPr/>
                    <a:lstStyle/>
                    <a:p>
                      <a:pPr algn="ctr"/>
                      <a:r>
                        <a:rPr lang="en-US" dirty="0"/>
                        <a:t>3.96</a:t>
                      </a:r>
                    </a:p>
                  </a:txBody>
                  <a:tcPr/>
                </a:tc>
                <a:extLst>
                  <a:ext uri="{0D108BD9-81ED-4DB2-BD59-A6C34878D82A}">
                    <a16:rowId xmlns="" xmlns:a16="http://schemas.microsoft.com/office/drawing/2014/main" val="10002"/>
                  </a:ext>
                </a:extLst>
              </a:tr>
            </a:tbl>
          </a:graphicData>
        </a:graphic>
      </p:graphicFrame>
      <p:sp>
        <p:nvSpPr>
          <p:cNvPr id="4" name="TextBox 3"/>
          <p:cNvSpPr txBox="1"/>
          <p:nvPr/>
        </p:nvSpPr>
        <p:spPr>
          <a:xfrm>
            <a:off x="838200" y="5029200"/>
            <a:ext cx="5638800" cy="646331"/>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occupancy sampling resembles the  actual distribution of data</a:t>
            </a:r>
          </a:p>
          <a:p>
            <a:pPr marL="285750" indent="-285750">
              <a:buFont typeface="Arial" pitchFamily="34" charset="0"/>
              <a:buChar char="•"/>
            </a:pPr>
            <a:r>
              <a:rPr lang="en-US" dirty="0" smtClean="0">
                <a:latin typeface="Tw Cen MT Condensed" pitchFamily="34" charset="0"/>
              </a:rPr>
              <a:t>Bootstrapping from real data resulted in this accuracy</a:t>
            </a:r>
            <a:endParaRPr lang="en-US" dirty="0">
              <a:latin typeface="Tw Cen MT Condensed" pitchFamily="34" charset="0"/>
            </a:endParaRPr>
          </a:p>
        </p:txBody>
      </p:sp>
    </p:spTree>
    <p:extLst>
      <p:ext uri="{BB962C8B-B14F-4D97-AF65-F5344CB8AC3E}">
        <p14:creationId xmlns:p14="http://schemas.microsoft.com/office/powerpoint/2010/main" val="4047548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066800"/>
            <a:ext cx="5638800" cy="461665"/>
          </a:xfrm>
          <a:prstGeom prst="rect">
            <a:avLst/>
          </a:prstGeom>
          <a:noFill/>
        </p:spPr>
        <p:txBody>
          <a:bodyPr wrap="square" rtlCol="0">
            <a:spAutoFit/>
          </a:bodyPr>
          <a:lstStyle/>
          <a:p>
            <a:r>
              <a:rPr lang="en-US" sz="2400" dirty="0" smtClean="0">
                <a:latin typeface="Tw Cen MT Condensed" pitchFamily="34" charset="0"/>
              </a:rPr>
              <a:t>V1-Occupancy </a:t>
            </a:r>
            <a:r>
              <a:rPr lang="en-US" sz="2400" dirty="0">
                <a:latin typeface="Tw Cen MT Condensed" pitchFamily="34" charset="0"/>
              </a:rPr>
              <a:t>Sampling (10 MC run)</a:t>
            </a:r>
          </a:p>
        </p:txBody>
      </p:sp>
      <p:graphicFrame>
        <p:nvGraphicFramePr>
          <p:cNvPr id="3" name="Table 2">
            <a:extLst>
              <a:ext uri="{FF2B5EF4-FFF2-40B4-BE49-F238E27FC236}">
                <a16:creationId xmlns="" xmlns:a16="http://schemas.microsoft.com/office/drawing/2014/main" id="{58AC8864-17E4-56E3-19BB-2E909D05D6D1}"/>
              </a:ext>
            </a:extLst>
          </p:cNvPr>
          <p:cNvGraphicFramePr>
            <a:graphicFrameLocks noGrp="1"/>
          </p:cNvGraphicFramePr>
          <p:nvPr>
            <p:extLst>
              <p:ext uri="{D42A27DB-BD31-4B8C-83A1-F6EECF244321}">
                <p14:modId xmlns:p14="http://schemas.microsoft.com/office/powerpoint/2010/main" val="2192425022"/>
              </p:ext>
            </p:extLst>
          </p:nvPr>
        </p:nvGraphicFramePr>
        <p:xfrm>
          <a:off x="914400" y="1866900"/>
          <a:ext cx="7787005" cy="3124200"/>
        </p:xfrm>
        <a:graphic>
          <a:graphicData uri="http://schemas.openxmlformats.org/drawingml/2006/table">
            <a:tbl>
              <a:tblPr firstRow="1" bandRow="1">
                <a:tableStyleId>{5940675A-B579-460E-94D1-54222C63F5DA}</a:tableStyleId>
              </a:tblPr>
              <a:tblGrid>
                <a:gridCol w="1754505">
                  <a:extLst>
                    <a:ext uri="{9D8B030D-6E8A-4147-A177-3AD203B41FA5}">
                      <a16:colId xmlns="" xmlns:a16="http://schemas.microsoft.com/office/drawing/2014/main" val="20000"/>
                    </a:ext>
                  </a:extLst>
                </a:gridCol>
                <a:gridCol w="1206500">
                  <a:extLst>
                    <a:ext uri="{9D8B030D-6E8A-4147-A177-3AD203B41FA5}">
                      <a16:colId xmlns="" xmlns:a16="http://schemas.microsoft.com/office/drawing/2014/main" val="20001"/>
                    </a:ext>
                  </a:extLst>
                </a:gridCol>
                <a:gridCol w="1206500">
                  <a:extLst>
                    <a:ext uri="{9D8B030D-6E8A-4147-A177-3AD203B41FA5}">
                      <a16:colId xmlns="" xmlns:a16="http://schemas.microsoft.com/office/drawing/2014/main" val="20002"/>
                    </a:ext>
                  </a:extLst>
                </a:gridCol>
                <a:gridCol w="1206500">
                  <a:extLst>
                    <a:ext uri="{9D8B030D-6E8A-4147-A177-3AD203B41FA5}">
                      <a16:colId xmlns="" xmlns:a16="http://schemas.microsoft.com/office/drawing/2014/main" val="20003"/>
                    </a:ext>
                  </a:extLst>
                </a:gridCol>
                <a:gridCol w="1206500">
                  <a:extLst>
                    <a:ext uri="{9D8B030D-6E8A-4147-A177-3AD203B41FA5}">
                      <a16:colId xmlns="" xmlns:a16="http://schemas.microsoft.com/office/drawing/2014/main" val="20004"/>
                    </a:ext>
                  </a:extLst>
                </a:gridCol>
                <a:gridCol w="1206500">
                  <a:extLst>
                    <a:ext uri="{9D8B030D-6E8A-4147-A177-3AD203B41FA5}">
                      <a16:colId xmlns="" xmlns:a16="http://schemas.microsoft.com/office/drawing/2014/main" val="20005"/>
                    </a:ext>
                  </a:extLst>
                </a:gridCol>
              </a:tblGrid>
              <a:tr h="1666240">
                <a:tc>
                  <a:txBody>
                    <a:bodyPr/>
                    <a:lstStyle/>
                    <a:p>
                      <a:pPr algn="ctr"/>
                      <a:r>
                        <a:rPr lang="en-US" dirty="0"/>
                        <a:t>Room1</a:t>
                      </a:r>
                      <a:r>
                        <a:rPr lang="en-US" baseline="0" dirty="0"/>
                        <a:t> </a:t>
                      </a:r>
                      <a:r>
                        <a:rPr lang="en-US" baseline="0" dirty="0" smtClean="0"/>
                        <a:t>CO2</a:t>
                      </a:r>
                    </a:p>
                    <a:p>
                      <a:pPr algn="ctr"/>
                      <a:r>
                        <a:rPr lang="en-US" baseline="0" dirty="0" smtClean="0"/>
                        <a:t>Concentration</a:t>
                      </a:r>
                      <a:endParaRPr lang="en-US" dirty="0"/>
                    </a:p>
                  </a:txBody>
                  <a:tcPr/>
                </a:tc>
                <a:tc>
                  <a:txBody>
                    <a:bodyPr/>
                    <a:lstStyle/>
                    <a:p>
                      <a:pPr algn="ctr"/>
                      <a:r>
                        <a:rPr lang="en-US" sz="1800" b="1" i="0" u="none" strike="noStrike" kern="1200" baseline="0" dirty="0">
                          <a:solidFill>
                            <a:schemeClr val="tx1"/>
                          </a:solidFill>
                          <a:latin typeface="+mn-lt"/>
                          <a:ea typeface="+mn-ea"/>
                          <a:cs typeface="+mn-cs"/>
                        </a:rPr>
                        <a:t>Min value</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Max value</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Standard deviation </a:t>
                      </a:r>
                    </a:p>
                    <a:p>
                      <a:pPr algn="ctr"/>
                      <a:endParaRPr lang="en-US" dirty="0"/>
                    </a:p>
                  </a:txBody>
                  <a:tcPr/>
                </a:tc>
                <a:tc>
                  <a:txBody>
                    <a:bodyPr/>
                    <a:lstStyle/>
                    <a:p>
                      <a:pPr algn="ctr"/>
                      <a:r>
                        <a:rPr lang="en-US" sz="1800" b="1" i="0" u="none" strike="noStrike" kern="1200" baseline="0" dirty="0">
                          <a:solidFill>
                            <a:schemeClr val="tx1"/>
                          </a:solidFill>
                          <a:latin typeface="+mn-lt"/>
                          <a:ea typeface="+mn-ea"/>
                          <a:cs typeface="+mn-cs"/>
                        </a:rPr>
                        <a:t>Skew </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mn-lt"/>
                          <a:ea typeface="+mn-ea"/>
                          <a:cs typeface="+mn-cs"/>
                        </a:rPr>
                        <a:t>Kurtosis</a:t>
                      </a:r>
                      <a:endParaRPr lang="en-US" dirty="0"/>
                    </a:p>
                    <a:p>
                      <a:pPr algn="ctr"/>
                      <a:endParaRPr lang="en-US" dirty="0"/>
                    </a:p>
                  </a:txBody>
                  <a:tcPr/>
                </a:tc>
                <a:extLst>
                  <a:ext uri="{0D108BD9-81ED-4DB2-BD59-A6C34878D82A}">
                    <a16:rowId xmlns="" xmlns:a16="http://schemas.microsoft.com/office/drawing/2014/main" val="10000"/>
                  </a:ext>
                </a:extLst>
              </a:tr>
              <a:tr h="728980">
                <a:tc>
                  <a:txBody>
                    <a:bodyPr/>
                    <a:lstStyle/>
                    <a:p>
                      <a:pPr algn="ctr"/>
                      <a:r>
                        <a:rPr lang="en-US" dirty="0"/>
                        <a:t>Bootstrapped</a:t>
                      </a:r>
                    </a:p>
                  </a:txBody>
                  <a:tcPr/>
                </a:tc>
                <a:tc>
                  <a:txBody>
                    <a:bodyPr/>
                    <a:lstStyle/>
                    <a:p>
                      <a:pPr algn="ctr"/>
                      <a:r>
                        <a:rPr lang="en-US" sz="1800" b="0" i="0" u="none" strike="noStrike" kern="1200" baseline="0" dirty="0" smtClean="0">
                          <a:solidFill>
                            <a:schemeClr val="tx1"/>
                          </a:solidFill>
                          <a:latin typeface="+mn-lt"/>
                          <a:ea typeface="+mn-ea"/>
                          <a:cs typeface="+mn-cs"/>
                        </a:rPr>
                        <a:t>420</a:t>
                      </a: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420.00507</a:t>
                      </a: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0.000151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smtClean="0">
                          <a:solidFill>
                            <a:schemeClr val="tx1"/>
                          </a:solidFill>
                          <a:latin typeface="+mn-lt"/>
                          <a:ea typeface="+mn-ea"/>
                          <a:cs typeface="+mn-cs"/>
                        </a:rPr>
                        <a:t>1.081772</a:t>
                      </a:r>
                      <a:endParaRPr lang="en-US" dirty="0"/>
                    </a:p>
                  </a:txBody>
                  <a:tcPr/>
                </a:tc>
                <a:tc>
                  <a:txBody>
                    <a:bodyPr/>
                    <a:lstStyle/>
                    <a:p>
                      <a:pPr algn="ctr"/>
                      <a:r>
                        <a:rPr lang="en-US" sz="1800" b="0" i="0" u="none" strike="noStrike" kern="1200" baseline="0" dirty="0" smtClean="0">
                          <a:solidFill>
                            <a:schemeClr val="tx1"/>
                          </a:solidFill>
                          <a:latin typeface="+mn-lt"/>
                          <a:ea typeface="+mn-ea"/>
                          <a:cs typeface="+mn-cs"/>
                        </a:rPr>
                        <a:t>-0.420776</a:t>
                      </a:r>
                      <a:endParaRPr lang="en-US" dirty="0"/>
                    </a:p>
                  </a:txBody>
                  <a:tcPr/>
                </a:tc>
                <a:extLst>
                  <a:ext uri="{0D108BD9-81ED-4DB2-BD59-A6C34878D82A}">
                    <a16:rowId xmlns="" xmlns:a16="http://schemas.microsoft.com/office/drawing/2014/main" val="10001"/>
                  </a:ext>
                </a:extLst>
              </a:tr>
              <a:tr h="728980">
                <a:tc>
                  <a:txBody>
                    <a:bodyPr/>
                    <a:lstStyle/>
                    <a:p>
                      <a:pPr algn="ctr"/>
                      <a:r>
                        <a:rPr lang="en-US" dirty="0"/>
                        <a:t>Literature</a:t>
                      </a:r>
                    </a:p>
                  </a:txBody>
                  <a:tcPr/>
                </a:tc>
                <a:tc>
                  <a:txBody>
                    <a:bodyPr/>
                    <a:lstStyle/>
                    <a:p>
                      <a:pPr algn="ctr"/>
                      <a:r>
                        <a:rPr lang="en-US" dirty="0" smtClean="0"/>
                        <a:t>406.72</a:t>
                      </a:r>
                      <a:endParaRPr lang="en-US" dirty="0"/>
                    </a:p>
                  </a:txBody>
                  <a:tcPr/>
                </a:tc>
                <a:tc>
                  <a:txBody>
                    <a:bodyPr/>
                    <a:lstStyle/>
                    <a:p>
                      <a:pPr algn="ctr"/>
                      <a:r>
                        <a:rPr lang="en-US" dirty="0" smtClean="0"/>
                        <a:t>1046.40</a:t>
                      </a:r>
                      <a:endParaRPr lang="en-US" dirty="0"/>
                    </a:p>
                  </a:txBody>
                  <a:tcPr/>
                </a:tc>
                <a:tc>
                  <a:txBody>
                    <a:bodyPr/>
                    <a:lstStyle/>
                    <a:p>
                      <a:pPr algn="ctr"/>
                      <a:r>
                        <a:rPr lang="en-US" dirty="0" smtClean="0"/>
                        <a:t>113.49</a:t>
                      </a:r>
                      <a:endParaRPr lang="en-US" dirty="0"/>
                    </a:p>
                  </a:txBody>
                  <a:tcPr/>
                </a:tc>
                <a:tc>
                  <a:txBody>
                    <a:bodyPr/>
                    <a:lstStyle/>
                    <a:p>
                      <a:pPr algn="ctr"/>
                      <a:r>
                        <a:rPr lang="en-US" dirty="0" smtClean="0"/>
                        <a:t>1.46</a:t>
                      </a:r>
                      <a:endParaRPr lang="en-US" dirty="0"/>
                    </a:p>
                  </a:txBody>
                  <a:tcPr/>
                </a:tc>
                <a:tc>
                  <a:txBody>
                    <a:bodyPr/>
                    <a:lstStyle/>
                    <a:p>
                      <a:pPr algn="ctr"/>
                      <a:r>
                        <a:rPr lang="en-US" dirty="0" smtClean="0"/>
                        <a:t>1.57</a:t>
                      </a:r>
                      <a:endParaRPr lang="en-US" dirty="0"/>
                    </a:p>
                  </a:txBody>
                  <a:tcPr/>
                </a:tc>
                <a:extLst>
                  <a:ext uri="{0D108BD9-81ED-4DB2-BD59-A6C34878D82A}">
                    <a16:rowId xmlns="" xmlns:a16="http://schemas.microsoft.com/office/drawing/2014/main" val="10002"/>
                  </a:ext>
                </a:extLst>
              </a:tr>
            </a:tbl>
          </a:graphicData>
        </a:graphic>
      </p:graphicFrame>
      <p:sp>
        <p:nvSpPr>
          <p:cNvPr id="4" name="TextBox 3"/>
          <p:cNvSpPr txBox="1"/>
          <p:nvPr/>
        </p:nvSpPr>
        <p:spPr>
          <a:xfrm>
            <a:off x="838200" y="5029200"/>
            <a:ext cx="8001000" cy="1200329"/>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CO2 concentration doesn’t matc</a:t>
            </a:r>
            <a:r>
              <a:rPr lang="en-US" dirty="0" smtClean="0">
                <a:latin typeface="Tw Cen MT Condensed" pitchFamily="34" charset="0"/>
              </a:rPr>
              <a:t>h with the literature as we used a lot of </a:t>
            </a:r>
            <a:r>
              <a:rPr lang="en-US" dirty="0" err="1" smtClean="0">
                <a:latin typeface="Tw Cen MT Condensed" pitchFamily="34" charset="0"/>
              </a:rPr>
              <a:t>assumtions</a:t>
            </a:r>
            <a:endParaRPr lang="en-US" dirty="0" smtClean="0">
              <a:latin typeface="Tw Cen MT Condensed" pitchFamily="34" charset="0"/>
            </a:endParaRPr>
          </a:p>
          <a:p>
            <a:pPr marL="285750" indent="-285750">
              <a:buFont typeface="Arial" pitchFamily="34" charset="0"/>
              <a:buChar char="•"/>
            </a:pPr>
            <a:r>
              <a:rPr lang="en-US" dirty="0" smtClean="0">
                <a:latin typeface="Tw Cen MT Condensed" pitchFamily="34" charset="0"/>
              </a:rPr>
              <a:t>However, as we are doing comparative analysis, this mismatch with the real data distribution  will not highly impact the hypothesis testing. The magnitude of the  CO2 simulation matches the minimum value, means, we can use the simulation procedure with some inaccuracy.</a:t>
            </a:r>
            <a:endParaRPr lang="en-US" dirty="0">
              <a:latin typeface="Tw Cen MT Condensed" pitchFamily="34" charset="0"/>
            </a:endParaRPr>
          </a:p>
        </p:txBody>
      </p:sp>
    </p:spTree>
    <p:extLst>
      <p:ext uri="{BB962C8B-B14F-4D97-AF65-F5344CB8AC3E}">
        <p14:creationId xmlns:p14="http://schemas.microsoft.com/office/powerpoint/2010/main" val="129600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466635"/>
            <a:ext cx="5638800" cy="1200329"/>
          </a:xfrm>
          <a:prstGeom prst="rect">
            <a:avLst/>
          </a:prstGeom>
          <a:noFill/>
        </p:spPr>
        <p:txBody>
          <a:bodyPr wrap="square" rtlCol="0">
            <a:spAutoFit/>
          </a:bodyPr>
          <a:lstStyle/>
          <a:p>
            <a:r>
              <a:rPr lang="en-US" sz="2400" dirty="0" smtClean="0">
                <a:latin typeface="Tw Cen MT Condensed" pitchFamily="34" charset="0"/>
              </a:rPr>
              <a:t>H1-As </a:t>
            </a:r>
            <a:r>
              <a:rPr lang="en-US" sz="2400" dirty="0">
                <a:latin typeface="Tw Cen MT Condensed" pitchFamily="34" charset="0"/>
              </a:rPr>
              <a:t>average occupancy increases, the per-capita energy consumption decreases</a:t>
            </a:r>
          </a:p>
          <a:p>
            <a:endParaRPr lang="en-US" sz="2400" dirty="0">
              <a:latin typeface="Tw Cen MT Condensed" pitchFamily="34" charset="0"/>
            </a:endParaRPr>
          </a:p>
        </p:txBody>
      </p:sp>
      <p:pic>
        <p:nvPicPr>
          <p:cNvPr id="3" name="Picture 2" descr="F:\IS_597\2025Fall_projects\H1_pl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19200"/>
            <a:ext cx="6096000" cy="4572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59594" y="5867400"/>
            <a:ext cx="5638800" cy="646331"/>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Hypothesis1 is True as we can see that increasing the occupancy is decreasing the per capita energy consumption</a:t>
            </a:r>
            <a:endParaRPr lang="en-US" dirty="0">
              <a:latin typeface="Tw Cen MT Condensed" pitchFamily="34" charset="0"/>
            </a:endParaRPr>
          </a:p>
        </p:txBody>
      </p:sp>
    </p:spTree>
    <p:extLst>
      <p:ext uri="{BB962C8B-B14F-4D97-AF65-F5344CB8AC3E}">
        <p14:creationId xmlns:p14="http://schemas.microsoft.com/office/powerpoint/2010/main" val="1589764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466635"/>
            <a:ext cx="6705600" cy="1569660"/>
          </a:xfrm>
          <a:prstGeom prst="rect">
            <a:avLst/>
          </a:prstGeom>
          <a:noFill/>
        </p:spPr>
        <p:txBody>
          <a:bodyPr wrap="square" rtlCol="0">
            <a:spAutoFit/>
          </a:bodyPr>
          <a:lstStyle/>
          <a:p>
            <a:r>
              <a:rPr lang="en-US" sz="2400" dirty="0" smtClean="0">
                <a:latin typeface="Tw Cen MT Condensed" pitchFamily="34" charset="0"/>
              </a:rPr>
              <a:t>H1-</a:t>
            </a:r>
            <a:r>
              <a:rPr lang="en-US" sz="2400" dirty="0">
                <a:latin typeface="Tw Cen MT Condensed" pitchFamily="34" charset="0"/>
              </a:rPr>
              <a:t>Compared to fixed ventilation, occupancy-based ventilation will reduce CO₂ </a:t>
            </a:r>
            <a:r>
              <a:rPr lang="en-US" sz="2400" dirty="0" err="1">
                <a:latin typeface="Tw Cen MT Condensed" pitchFamily="34" charset="0"/>
              </a:rPr>
              <a:t>exceedance</a:t>
            </a:r>
            <a:r>
              <a:rPr lang="en-US" sz="2400" dirty="0">
                <a:latin typeface="Tw Cen MT Condensed" pitchFamily="34" charset="0"/>
              </a:rPr>
              <a:t> hours and energy use.</a:t>
            </a:r>
          </a:p>
          <a:p>
            <a:endParaRPr lang="en-US" sz="2400" dirty="0" smtClean="0">
              <a:latin typeface="Tw Cen MT Condensed" pitchFamily="34" charset="0"/>
            </a:endParaRPr>
          </a:p>
          <a:p>
            <a:endParaRPr lang="en-US" sz="2400" dirty="0">
              <a:latin typeface="Tw Cen MT Condensed" pitchFamily="34" charset="0"/>
            </a:endParaRPr>
          </a:p>
        </p:txBody>
      </p:sp>
      <p:sp>
        <p:nvSpPr>
          <p:cNvPr id="4" name="TextBox 3"/>
          <p:cNvSpPr txBox="1"/>
          <p:nvPr/>
        </p:nvSpPr>
        <p:spPr>
          <a:xfrm>
            <a:off x="759594" y="5867400"/>
            <a:ext cx="5638800" cy="646331"/>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Hypothesis 2 is partially True as we can see the occupancy based ventilation reduced energy use </a:t>
            </a:r>
            <a:endParaRPr lang="en-US" dirty="0">
              <a:latin typeface="Tw Cen MT Condensed" pitchFamily="34" charset="0"/>
            </a:endParaRPr>
          </a:p>
        </p:txBody>
      </p:sp>
      <p:pic>
        <p:nvPicPr>
          <p:cNvPr id="3074" name="Picture 2" descr="F:\IS_597\2025Fall_projects\H2_pl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9" y="1220985"/>
            <a:ext cx="6096001"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974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466635"/>
            <a:ext cx="6705600" cy="1569660"/>
          </a:xfrm>
          <a:prstGeom prst="rect">
            <a:avLst/>
          </a:prstGeom>
          <a:noFill/>
        </p:spPr>
        <p:txBody>
          <a:bodyPr wrap="square" rtlCol="0">
            <a:spAutoFit/>
          </a:bodyPr>
          <a:lstStyle/>
          <a:p>
            <a:r>
              <a:rPr lang="en-US" sz="2400" dirty="0" smtClean="0">
                <a:latin typeface="Tw Cen MT Condensed" pitchFamily="34" charset="0"/>
              </a:rPr>
              <a:t>H1-</a:t>
            </a:r>
            <a:r>
              <a:rPr lang="en-US" sz="2400" dirty="0">
                <a:latin typeface="Tw Cen MT Condensed" pitchFamily="34" charset="0"/>
              </a:rPr>
              <a:t>Compared to fixed ventilation, occupancy-based ventilation will reduce CO₂ </a:t>
            </a:r>
            <a:r>
              <a:rPr lang="en-US" sz="2400" dirty="0" err="1">
                <a:latin typeface="Tw Cen MT Condensed" pitchFamily="34" charset="0"/>
              </a:rPr>
              <a:t>exceedance</a:t>
            </a:r>
            <a:r>
              <a:rPr lang="en-US" sz="2400" dirty="0">
                <a:latin typeface="Tw Cen MT Condensed" pitchFamily="34" charset="0"/>
              </a:rPr>
              <a:t> hours and energy use.</a:t>
            </a:r>
          </a:p>
          <a:p>
            <a:endParaRPr lang="en-US" sz="2400" dirty="0" smtClean="0">
              <a:latin typeface="Tw Cen MT Condensed" pitchFamily="34" charset="0"/>
            </a:endParaRPr>
          </a:p>
          <a:p>
            <a:endParaRPr lang="en-US" sz="2400" dirty="0">
              <a:latin typeface="Tw Cen MT Condensed" pitchFamily="34" charset="0"/>
            </a:endParaRPr>
          </a:p>
        </p:txBody>
      </p:sp>
      <p:sp>
        <p:nvSpPr>
          <p:cNvPr id="4" name="TextBox 3"/>
          <p:cNvSpPr txBox="1"/>
          <p:nvPr/>
        </p:nvSpPr>
        <p:spPr>
          <a:xfrm>
            <a:off x="609600" y="5562600"/>
            <a:ext cx="5638800" cy="923330"/>
          </a:xfrm>
          <a:prstGeom prst="rect">
            <a:avLst/>
          </a:prstGeom>
          <a:noFill/>
        </p:spPr>
        <p:txBody>
          <a:bodyPr wrap="square" rtlCol="0">
            <a:spAutoFit/>
          </a:bodyPr>
          <a:lstStyle/>
          <a:p>
            <a:pPr marL="285750" indent="-285750">
              <a:buFont typeface="Arial" pitchFamily="34" charset="0"/>
              <a:buChar char="•"/>
            </a:pPr>
            <a:r>
              <a:rPr lang="en-US" dirty="0" smtClean="0">
                <a:latin typeface="Tw Cen MT Condensed" pitchFamily="34" charset="0"/>
              </a:rPr>
              <a:t>The Hypothesis 2 is partially False, as both of the ventilation strategy doesn’t result in any CO2 </a:t>
            </a:r>
            <a:r>
              <a:rPr lang="en-US" dirty="0" err="1" smtClean="0">
                <a:latin typeface="Tw Cen MT Condensed" pitchFamily="34" charset="0"/>
              </a:rPr>
              <a:t>exceedance</a:t>
            </a:r>
            <a:r>
              <a:rPr lang="en-US" dirty="0" smtClean="0">
                <a:latin typeface="Tw Cen MT Condensed" pitchFamily="34" charset="0"/>
              </a:rPr>
              <a:t> hours. In our hypothesis, we assumed the occupancy based strategy </a:t>
            </a:r>
            <a:r>
              <a:rPr lang="en-US" dirty="0" err="1" smtClean="0">
                <a:latin typeface="Tw Cen MT Condensed" pitchFamily="34" charset="0"/>
              </a:rPr>
              <a:t>wiould</a:t>
            </a:r>
            <a:r>
              <a:rPr lang="en-US" dirty="0" smtClean="0">
                <a:latin typeface="Tw Cen MT Condensed" pitchFamily="34" charset="0"/>
              </a:rPr>
              <a:t> be better.</a:t>
            </a:r>
            <a:endParaRPr lang="en-US" dirty="0">
              <a:latin typeface="Tw Cen MT Condensed" pitchFamily="34" charset="0"/>
            </a:endParaRPr>
          </a:p>
        </p:txBody>
      </p:sp>
      <p:pic>
        <p:nvPicPr>
          <p:cNvPr id="4098" name="Picture 2" descr="F:\IS_597\2025Fall_projects\H2_plo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 y="1752600"/>
            <a:ext cx="508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548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836</Words>
  <Application>Microsoft Office PowerPoint</Application>
  <PresentationFormat>On-screen Show (4:3)</PresentationFormat>
  <Paragraphs>141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Shuvo</dc:creator>
  <cp:lastModifiedBy>Shuvo</cp:lastModifiedBy>
  <cp:revision>9</cp:revision>
  <dcterms:created xsi:type="dcterms:W3CDTF">2025-12-03T13:28:24Z</dcterms:created>
  <dcterms:modified xsi:type="dcterms:W3CDTF">2025-12-17T20:22:40Z</dcterms:modified>
</cp:coreProperties>
</file>