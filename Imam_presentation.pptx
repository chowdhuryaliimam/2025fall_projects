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6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7" r:id="rId13"/>
    <p:sldId id="268" r:id="rId14"/>
    <p:sldId id="271" r:id="rId15"/>
    <p:sldId id="269" r:id="rId16"/>
    <p:sldId id="270" r:id="rId17"/>
    <p:sldId id="272" r:id="rId1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4B89990-CC3E-4267-9795-F24CF1FFEEF9}" v="1" dt="2025-12-03T17:15:08.0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7" d="100"/>
          <a:sy n="107" d="100"/>
        </p:scale>
        <p:origin x="-1650" y="-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mam, Chowdhury Ali" userId="bfde9f6a-df78-4bb6-b97b-eae2fa6170b0" providerId="ADAL" clId="{1DC6021C-7151-433C-8612-0C96AE264BEC}"/>
    <pc:docChg chg="custSel modSld">
      <pc:chgData name="Imam, Chowdhury Ali" userId="bfde9f6a-df78-4bb6-b97b-eae2fa6170b0" providerId="ADAL" clId="{1DC6021C-7151-433C-8612-0C96AE264BEC}" dt="2025-12-03T17:27:46.677" v="93" actId="20577"/>
      <pc:docMkLst>
        <pc:docMk/>
      </pc:docMkLst>
      <pc:sldChg chg="modSp mod">
        <pc:chgData name="Imam, Chowdhury Ali" userId="bfde9f6a-df78-4bb6-b97b-eae2fa6170b0" providerId="ADAL" clId="{1DC6021C-7151-433C-8612-0C96AE264BEC}" dt="2025-12-03T17:26:27.551" v="90" actId="20577"/>
        <pc:sldMkLst>
          <pc:docMk/>
          <pc:sldMk cId="3457048047" sldId="257"/>
        </pc:sldMkLst>
        <pc:spChg chg="mod">
          <ac:chgData name="Imam, Chowdhury Ali" userId="bfde9f6a-df78-4bb6-b97b-eae2fa6170b0" providerId="ADAL" clId="{1DC6021C-7151-433C-8612-0C96AE264BEC}" dt="2025-12-03T17:26:27.551" v="90" actId="20577"/>
          <ac:spMkLst>
            <pc:docMk/>
            <pc:sldMk cId="3457048047" sldId="257"/>
            <ac:spMk id="3" creationId="{00000000-0000-0000-0000-000000000000}"/>
          </ac:spMkLst>
        </pc:spChg>
      </pc:sldChg>
      <pc:sldChg chg="modSp mod">
        <pc:chgData name="Imam, Chowdhury Ali" userId="bfde9f6a-df78-4bb6-b97b-eae2fa6170b0" providerId="ADAL" clId="{1DC6021C-7151-433C-8612-0C96AE264BEC}" dt="2025-12-03T17:27:16.212" v="91" actId="20577"/>
        <pc:sldMkLst>
          <pc:docMk/>
          <pc:sldMk cId="3581653128" sldId="258"/>
        </pc:sldMkLst>
        <pc:spChg chg="mod">
          <ac:chgData name="Imam, Chowdhury Ali" userId="bfde9f6a-df78-4bb6-b97b-eae2fa6170b0" providerId="ADAL" clId="{1DC6021C-7151-433C-8612-0C96AE264BEC}" dt="2025-12-03T17:27:16.212" v="91" actId="20577"/>
          <ac:spMkLst>
            <pc:docMk/>
            <pc:sldMk cId="3581653128" sldId="258"/>
            <ac:spMk id="5" creationId="{00000000-0000-0000-0000-000000000000}"/>
          </ac:spMkLst>
        </pc:spChg>
      </pc:sldChg>
      <pc:sldChg chg="modSp mod">
        <pc:chgData name="Imam, Chowdhury Ali" userId="bfde9f6a-df78-4bb6-b97b-eae2fa6170b0" providerId="ADAL" clId="{1DC6021C-7151-433C-8612-0C96AE264BEC}" dt="2025-12-03T17:27:38.255" v="92" actId="20577"/>
        <pc:sldMkLst>
          <pc:docMk/>
          <pc:sldMk cId="1042508535" sldId="259"/>
        </pc:sldMkLst>
        <pc:spChg chg="mod">
          <ac:chgData name="Imam, Chowdhury Ali" userId="bfde9f6a-df78-4bb6-b97b-eae2fa6170b0" providerId="ADAL" clId="{1DC6021C-7151-433C-8612-0C96AE264BEC}" dt="2025-12-03T17:27:38.255" v="92" actId="20577"/>
          <ac:spMkLst>
            <pc:docMk/>
            <pc:sldMk cId="1042508535" sldId="259"/>
            <ac:spMk id="5" creationId="{00000000-0000-0000-0000-000000000000}"/>
          </ac:spMkLst>
        </pc:spChg>
      </pc:sldChg>
      <pc:sldChg chg="modSp mod">
        <pc:chgData name="Imam, Chowdhury Ali" userId="bfde9f6a-df78-4bb6-b97b-eae2fa6170b0" providerId="ADAL" clId="{1DC6021C-7151-433C-8612-0C96AE264BEC}" dt="2025-12-03T17:27:46.677" v="93" actId="20577"/>
        <pc:sldMkLst>
          <pc:docMk/>
          <pc:sldMk cId="4158264163" sldId="260"/>
        </pc:sldMkLst>
        <pc:spChg chg="mod">
          <ac:chgData name="Imam, Chowdhury Ali" userId="bfde9f6a-df78-4bb6-b97b-eae2fa6170b0" providerId="ADAL" clId="{1DC6021C-7151-433C-8612-0C96AE264BEC}" dt="2025-12-03T17:27:46.677" v="93" actId="20577"/>
          <ac:spMkLst>
            <pc:docMk/>
            <pc:sldMk cId="4158264163" sldId="260"/>
            <ac:spMk id="5" creationId="{00000000-0000-0000-0000-000000000000}"/>
          </ac:spMkLst>
        </pc:spChg>
      </pc:sldChg>
      <pc:sldChg chg="modSp mod">
        <pc:chgData name="Imam, Chowdhury Ali" userId="bfde9f6a-df78-4bb6-b97b-eae2fa6170b0" providerId="ADAL" clId="{1DC6021C-7151-433C-8612-0C96AE264BEC}" dt="2025-12-03T17:19:17.223" v="59" actId="20577"/>
        <pc:sldMkLst>
          <pc:docMk/>
          <pc:sldMk cId="2408850084" sldId="267"/>
        </pc:sldMkLst>
        <pc:graphicFrameChg chg="modGraphic">
          <ac:chgData name="Imam, Chowdhury Ali" userId="bfde9f6a-df78-4bb6-b97b-eae2fa6170b0" providerId="ADAL" clId="{1DC6021C-7151-433C-8612-0C96AE264BEC}" dt="2025-12-03T17:19:17.223" v="59" actId="20577"/>
          <ac:graphicFrameMkLst>
            <pc:docMk/>
            <pc:sldMk cId="2408850084" sldId="267"/>
            <ac:graphicFrameMk id="3" creationId="{00000000-0000-0000-0000-000000000000}"/>
          </ac:graphicFrameMkLst>
        </pc:graphicFrameChg>
      </pc:sldChg>
      <pc:sldChg chg="addSp delSp modSp mod">
        <pc:chgData name="Imam, Chowdhury Ali" userId="bfde9f6a-df78-4bb6-b97b-eae2fa6170b0" providerId="ADAL" clId="{1DC6021C-7151-433C-8612-0C96AE264BEC}" dt="2025-12-03T17:19:11.350" v="58" actId="20577"/>
        <pc:sldMkLst>
          <pc:docMk/>
          <pc:sldMk cId="4047548869" sldId="268"/>
        </pc:sldMkLst>
        <pc:spChg chg="mod">
          <ac:chgData name="Imam, Chowdhury Ali" userId="bfde9f6a-df78-4bb6-b97b-eae2fa6170b0" providerId="ADAL" clId="{1DC6021C-7151-433C-8612-0C96AE264BEC}" dt="2025-12-03T17:18:59.106" v="57" actId="1076"/>
          <ac:spMkLst>
            <pc:docMk/>
            <pc:sldMk cId="4047548869" sldId="268"/>
            <ac:spMk id="2" creationId="{00000000-0000-0000-0000-000000000000}"/>
          </ac:spMkLst>
        </pc:spChg>
        <pc:spChg chg="del mod">
          <ac:chgData name="Imam, Chowdhury Ali" userId="bfde9f6a-df78-4bb6-b97b-eae2fa6170b0" providerId="ADAL" clId="{1DC6021C-7151-433C-8612-0C96AE264BEC}" dt="2025-12-03T17:17:24.546" v="51" actId="478"/>
          <ac:spMkLst>
            <pc:docMk/>
            <pc:sldMk cId="4047548869" sldId="268"/>
            <ac:spMk id="4" creationId="{00000000-0000-0000-0000-000000000000}"/>
          </ac:spMkLst>
        </pc:spChg>
        <pc:graphicFrameChg chg="add mod modGraphic">
          <ac:chgData name="Imam, Chowdhury Ali" userId="bfde9f6a-df78-4bb6-b97b-eae2fa6170b0" providerId="ADAL" clId="{1DC6021C-7151-433C-8612-0C96AE264BEC}" dt="2025-12-03T17:19:11.350" v="58" actId="20577"/>
          <ac:graphicFrameMkLst>
            <pc:docMk/>
            <pc:sldMk cId="4047548869" sldId="268"/>
            <ac:graphicFrameMk id="3" creationId="{58AC8864-17E4-56E3-19BB-2E909D05D6D1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46293-0B56-43E4-B6A3-D13AE42339F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84054-CDA9-4F89-BA3F-3E1C83091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9835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46293-0B56-43E4-B6A3-D13AE42339F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84054-CDA9-4F89-BA3F-3E1C83091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4109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46293-0B56-43E4-B6A3-D13AE42339F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84054-CDA9-4F89-BA3F-3E1C83091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672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46293-0B56-43E4-B6A3-D13AE42339F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84054-CDA9-4F89-BA3F-3E1C83091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1704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46293-0B56-43E4-B6A3-D13AE42339F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84054-CDA9-4F89-BA3F-3E1C83091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1437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46293-0B56-43E4-B6A3-D13AE42339F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84054-CDA9-4F89-BA3F-3E1C83091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0743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46293-0B56-43E4-B6A3-D13AE42339F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84054-CDA9-4F89-BA3F-3E1C83091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349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46293-0B56-43E4-B6A3-D13AE42339F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84054-CDA9-4F89-BA3F-3E1C83091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7357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46293-0B56-43E4-B6A3-D13AE42339F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84054-CDA9-4F89-BA3F-3E1C83091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867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46293-0B56-43E4-B6A3-D13AE42339F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84054-CDA9-4F89-BA3F-3E1C83091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871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46293-0B56-43E4-B6A3-D13AE42339F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84054-CDA9-4F89-BA3F-3E1C83091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2211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946293-0B56-43E4-B6A3-D13AE42339F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E84054-CDA9-4F89-BA3F-3E1C83091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381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181100" y="2828836"/>
            <a:ext cx="67818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600" dirty="0">
                <a:latin typeface="Tw Cen MT Condensed" pitchFamily="34" charset="0"/>
              </a:rPr>
              <a:t>Monte Carlo Analysis of Occupancy-Driven Energy and CO₂ Variability in a Public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62300" y="4724400"/>
            <a:ext cx="2819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Tw Cen MT Condensed" pitchFamily="34" charset="0"/>
              </a:rPr>
              <a:t>Chowdhury</a:t>
            </a:r>
            <a:r>
              <a:rPr lang="en-US" sz="1600" dirty="0">
                <a:latin typeface="Tw Cen MT Condensed" pitchFamily="34" charset="0"/>
              </a:rPr>
              <a:t> Ali Imam</a:t>
            </a:r>
          </a:p>
        </p:txBody>
      </p:sp>
    </p:spTree>
    <p:extLst>
      <p:ext uri="{BB962C8B-B14F-4D97-AF65-F5344CB8AC3E}">
        <p14:creationId xmlns:p14="http://schemas.microsoft.com/office/powerpoint/2010/main" val="1614973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752600"/>
            <a:ext cx="5638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w Cen MT Condensed" pitchFamily="34" charset="0"/>
              </a:rPr>
              <a:t>Brief</a:t>
            </a:r>
            <a:endParaRPr lang="en-US" sz="2400" dirty="0">
              <a:latin typeface="Tw Cen MT Condensed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4400" y="2551837"/>
            <a:ext cx="5638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dirty="0">
                <a:latin typeface="Tw Cen MT Condensed" pitchFamily="34" charset="0"/>
              </a:rPr>
              <a:t>Modeling a non-parametric Monte Carlo uncertainty of occupant behavior to investigate its effect on energy demand and indoor carbon dioxide levels.</a:t>
            </a:r>
          </a:p>
          <a:p>
            <a:pPr marL="285750" indent="-285750">
              <a:buFont typeface="Arial" pitchFamily="34" charset="0"/>
              <a:buChar char="•"/>
            </a:pPr>
            <a:endParaRPr lang="en-US" dirty="0">
              <a:latin typeface="Tw Cen MT Condensed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n-US" dirty="0">
                <a:latin typeface="Tw Cen MT Condensed" pitchFamily="34" charset="0"/>
              </a:rPr>
              <a:t>No simulation engine is used</a:t>
            </a:r>
          </a:p>
          <a:p>
            <a:pPr marL="285750" indent="-285750">
              <a:buFont typeface="Arial" pitchFamily="34" charset="0"/>
              <a:buChar char="•"/>
            </a:pPr>
            <a:endParaRPr lang="en-US" dirty="0">
              <a:latin typeface="Tw Cen MT Condensed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n-US" dirty="0">
                <a:latin typeface="Tw Cen MT Condensed" pitchFamily="34" charset="0"/>
              </a:rPr>
              <a:t> Physics-based simulation under the uncertainty of occupancy</a:t>
            </a:r>
          </a:p>
        </p:txBody>
      </p:sp>
    </p:spTree>
    <p:extLst>
      <p:ext uri="{BB962C8B-B14F-4D97-AF65-F5344CB8AC3E}">
        <p14:creationId xmlns:p14="http://schemas.microsoft.com/office/powerpoint/2010/main" val="34570480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752600"/>
            <a:ext cx="5638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w Cen MT Condensed" pitchFamily="34" charset="0"/>
              </a:rPr>
              <a:t>Validation</a:t>
            </a:r>
            <a:endParaRPr lang="en-US" sz="2400" dirty="0">
              <a:latin typeface="Tw Cen MT Condensed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4400" y="2551837"/>
            <a:ext cx="5638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dirty="0">
                <a:latin typeface="Tw Cen MT Condensed" pitchFamily="34" charset="0"/>
              </a:rPr>
              <a:t>Comparing the Monte Carlo resampled occupancy distribution with the original dataset</a:t>
            </a:r>
          </a:p>
          <a:p>
            <a:pPr marL="285750" indent="-285750">
              <a:buFont typeface="Arial" pitchFamily="34" charset="0"/>
              <a:buChar char="•"/>
            </a:pPr>
            <a:endParaRPr lang="en-US" dirty="0">
              <a:latin typeface="Tw Cen MT Condensed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n-US" dirty="0">
                <a:latin typeface="Tw Cen MT Condensed" pitchFamily="34" charset="0"/>
              </a:rPr>
              <a:t>Comparing the measured carbon-di-oxide concentration with the original dataset</a:t>
            </a:r>
          </a:p>
          <a:p>
            <a:pPr marL="285750" indent="-285750">
              <a:buFont typeface="Arial" pitchFamily="34" charset="0"/>
              <a:buChar char="•"/>
            </a:pPr>
            <a:endParaRPr lang="en-US" dirty="0">
              <a:latin typeface="Tw Cen MT Condense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71401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752600"/>
            <a:ext cx="5638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w Cen MT Condensed" pitchFamily="34" charset="0"/>
              </a:rPr>
              <a:t>Hypothesis</a:t>
            </a:r>
            <a:endParaRPr lang="en-US" sz="2400" dirty="0">
              <a:latin typeface="Tw Cen MT Condensed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4400" y="2551837"/>
            <a:ext cx="5638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dirty="0">
                <a:latin typeface="Tw Cen MT Condensed" pitchFamily="34" charset="0"/>
              </a:rPr>
              <a:t>As average occupancy increases, the per-capita energy consumption decreases</a:t>
            </a:r>
          </a:p>
          <a:p>
            <a:endParaRPr lang="en-US" dirty="0">
              <a:latin typeface="Tw Cen MT Condensed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n-US" dirty="0">
                <a:latin typeface="Tw Cen MT Condensed" pitchFamily="34" charset="0"/>
              </a:rPr>
              <a:t>Compared to fixed ventilation, occupancy-based ventilation will reduce CO₂ </a:t>
            </a:r>
            <a:r>
              <a:rPr lang="en-US" dirty="0" err="1">
                <a:latin typeface="Tw Cen MT Condensed" pitchFamily="34" charset="0"/>
              </a:rPr>
              <a:t>exceedance</a:t>
            </a:r>
            <a:r>
              <a:rPr lang="en-US" dirty="0">
                <a:latin typeface="Tw Cen MT Condensed" pitchFamily="34" charset="0"/>
              </a:rPr>
              <a:t> </a:t>
            </a:r>
            <a:r>
              <a:rPr lang="en-US" dirty="0" smtClean="0">
                <a:latin typeface="Tw Cen MT Condensed" pitchFamily="34" charset="0"/>
              </a:rPr>
              <a:t>hours and energy use.</a:t>
            </a:r>
            <a:endParaRPr lang="en-US" dirty="0">
              <a:latin typeface="Tw Cen MT Condense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89422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066800"/>
            <a:ext cx="5638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w Cen MT Condensed" pitchFamily="34" charset="0"/>
              </a:rPr>
              <a:t>CO₂ Mass Balance Equation</a:t>
            </a:r>
            <a:endParaRPr lang="en-US" sz="2400" dirty="0">
              <a:latin typeface="Tw Cen MT Condensed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981200"/>
            <a:ext cx="7543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w Cen MT" pitchFamily="34" charset="0"/>
              </a:rPr>
              <a:t>C(t+1) = C(t) + (</a:t>
            </a:r>
            <a:r>
              <a:rPr lang="el-GR" sz="2400" dirty="0"/>
              <a:t>Δ</a:t>
            </a:r>
            <a:r>
              <a:rPr lang="en-US" sz="2400" dirty="0">
                <a:latin typeface="Tw Cen MT" pitchFamily="34" charset="0"/>
              </a:rPr>
              <a:t>t/V) * [G_CO2*N(t) + V̇(t)*(</a:t>
            </a:r>
            <a:r>
              <a:rPr lang="en-US" sz="2400" dirty="0" err="1">
                <a:latin typeface="Tw Cen MT" pitchFamily="34" charset="0"/>
              </a:rPr>
              <a:t>C_out</a:t>
            </a:r>
            <a:r>
              <a:rPr lang="en-US" sz="2400" dirty="0">
                <a:latin typeface="Tw Cen MT" pitchFamily="34" charset="0"/>
              </a:rPr>
              <a:t> - C(t))]</a:t>
            </a:r>
          </a:p>
          <a:p>
            <a:endParaRPr lang="en-US" sz="2400" dirty="0">
              <a:latin typeface="Tw Cen MT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66800" y="2812197"/>
            <a:ext cx="68580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w Cen MT Condensed" pitchFamily="34" charset="0"/>
              </a:rPr>
              <a:t>C(t): indoor CO₂ concentration [ppm]</a:t>
            </a:r>
          </a:p>
          <a:p>
            <a:r>
              <a:rPr lang="el-GR" dirty="0"/>
              <a:t>Δ</a:t>
            </a:r>
            <a:r>
              <a:rPr lang="en-US" dirty="0">
                <a:latin typeface="Tw Cen MT Condensed" pitchFamily="34" charset="0"/>
              </a:rPr>
              <a:t>t: time step duration [s]</a:t>
            </a:r>
          </a:p>
          <a:p>
            <a:r>
              <a:rPr lang="en-US" dirty="0">
                <a:latin typeface="Tw Cen MT Condensed" pitchFamily="34" charset="0"/>
              </a:rPr>
              <a:t>V: room air volume [m³]</a:t>
            </a:r>
          </a:p>
          <a:p>
            <a:r>
              <a:rPr lang="en-US" dirty="0">
                <a:latin typeface="Tw Cen MT Condensed" pitchFamily="34" charset="0"/>
              </a:rPr>
              <a:t>G_CO2: CO₂ generation per person [mg/s-person]</a:t>
            </a:r>
          </a:p>
          <a:p>
            <a:r>
              <a:rPr lang="en-US" dirty="0">
                <a:latin typeface="Tw Cen MT Condensed" pitchFamily="34" charset="0"/>
              </a:rPr>
              <a:t>N(t): occupancy at time t [persons]</a:t>
            </a:r>
          </a:p>
          <a:p>
            <a:r>
              <a:rPr lang="en-US" dirty="0">
                <a:latin typeface="Tw Cen MT Condensed" pitchFamily="34" charset="0"/>
              </a:rPr>
              <a:t>V̇(t): ventilation flow rate [m³/s]</a:t>
            </a:r>
          </a:p>
          <a:p>
            <a:r>
              <a:rPr lang="en-US" dirty="0" err="1">
                <a:latin typeface="Tw Cen MT Condensed" pitchFamily="34" charset="0"/>
              </a:rPr>
              <a:t>C_out</a:t>
            </a:r>
            <a:r>
              <a:rPr lang="en-US" dirty="0">
                <a:latin typeface="Tw Cen MT Condensed" pitchFamily="34" charset="0"/>
              </a:rPr>
              <a:t>: outdoor CO₂ concentration [ppm]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16531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066800"/>
            <a:ext cx="563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w Cen MT Condensed" pitchFamily="34" charset="0"/>
              </a:rPr>
              <a:t>Ventilation Thermal 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81200"/>
            <a:ext cx="7543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 err="1">
                <a:latin typeface="Tw Cen MT" pitchFamily="34" charset="0"/>
              </a:rPr>
              <a:t>Q_vent</a:t>
            </a:r>
            <a:r>
              <a:rPr lang="fr-FR" sz="2400" dirty="0">
                <a:latin typeface="Tw Cen MT" pitchFamily="34" charset="0"/>
              </a:rPr>
              <a:t>(t) = ρ * </a:t>
            </a:r>
            <a:r>
              <a:rPr lang="fr-FR" sz="2400" dirty="0" err="1">
                <a:latin typeface="Tw Cen MT" pitchFamily="34" charset="0"/>
              </a:rPr>
              <a:t>c_p</a:t>
            </a:r>
            <a:r>
              <a:rPr lang="fr-FR" sz="2400" dirty="0">
                <a:latin typeface="Tw Cen MT" pitchFamily="34" charset="0"/>
              </a:rPr>
              <a:t> * V̇(t) * (</a:t>
            </a:r>
            <a:r>
              <a:rPr lang="fr-FR" sz="2400" dirty="0" err="1">
                <a:latin typeface="Tw Cen MT" pitchFamily="34" charset="0"/>
              </a:rPr>
              <a:t>T_set</a:t>
            </a:r>
            <a:r>
              <a:rPr lang="fr-FR" sz="2400" dirty="0">
                <a:latin typeface="Tw Cen MT" pitchFamily="34" charset="0"/>
              </a:rPr>
              <a:t> - </a:t>
            </a:r>
            <a:r>
              <a:rPr lang="fr-FR" sz="2400" dirty="0" err="1">
                <a:latin typeface="Tw Cen MT" pitchFamily="34" charset="0"/>
              </a:rPr>
              <a:t>T_out</a:t>
            </a:r>
            <a:r>
              <a:rPr lang="fr-FR" sz="2400" dirty="0">
                <a:latin typeface="Tw Cen MT" pitchFamily="34" charset="0"/>
              </a:rPr>
              <a:t>(t))</a:t>
            </a:r>
          </a:p>
          <a:p>
            <a:endParaRPr lang="en-US" sz="2400" dirty="0">
              <a:latin typeface="Tw Cen MT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66800" y="2812197"/>
            <a:ext cx="68580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Tw Cen MT Condensed" pitchFamily="34" charset="0"/>
              </a:rPr>
              <a:t>Q_vent</a:t>
            </a:r>
            <a:r>
              <a:rPr lang="en-US" dirty="0">
                <a:latin typeface="Tw Cen MT Condensed" pitchFamily="34" charset="0"/>
              </a:rPr>
              <a:t>(t): ventilation heating/cooling load [W]</a:t>
            </a:r>
          </a:p>
          <a:p>
            <a:r>
              <a:rPr lang="el-GR" dirty="0">
                <a:latin typeface="Tw Cen MT Condensed" pitchFamily="34" charset="0"/>
              </a:rPr>
              <a:t>ρ: </a:t>
            </a:r>
            <a:r>
              <a:rPr lang="en-US" dirty="0">
                <a:latin typeface="Tw Cen MT Condensed" pitchFamily="34" charset="0"/>
              </a:rPr>
              <a:t>air density (1.2 kg/m³)</a:t>
            </a:r>
          </a:p>
          <a:p>
            <a:r>
              <a:rPr lang="en-US" dirty="0" err="1">
                <a:latin typeface="Tw Cen MT Condensed" pitchFamily="34" charset="0"/>
              </a:rPr>
              <a:t>c_p</a:t>
            </a:r>
            <a:r>
              <a:rPr lang="en-US" dirty="0">
                <a:latin typeface="Tw Cen MT Condensed" pitchFamily="34" charset="0"/>
              </a:rPr>
              <a:t>: specific heat of air (1005 J/</a:t>
            </a:r>
            <a:r>
              <a:rPr lang="en-US" dirty="0" err="1">
                <a:latin typeface="Tw Cen MT Condensed" pitchFamily="34" charset="0"/>
              </a:rPr>
              <a:t>kg·K</a:t>
            </a:r>
            <a:r>
              <a:rPr lang="en-US" dirty="0">
                <a:latin typeface="Tw Cen MT Condensed" pitchFamily="34" charset="0"/>
              </a:rPr>
              <a:t>)</a:t>
            </a:r>
          </a:p>
          <a:p>
            <a:r>
              <a:rPr lang="en-US" dirty="0">
                <a:latin typeface="Tw Cen MT Condensed" pitchFamily="34" charset="0"/>
              </a:rPr>
              <a:t>V̇(t): supply airflow [m³/s]</a:t>
            </a:r>
          </a:p>
          <a:p>
            <a:r>
              <a:rPr lang="en-US" dirty="0" err="1">
                <a:latin typeface="Tw Cen MT Condensed" pitchFamily="34" charset="0"/>
              </a:rPr>
              <a:t>T_set</a:t>
            </a:r>
            <a:r>
              <a:rPr lang="en-US" dirty="0">
                <a:latin typeface="Tw Cen MT Condensed" pitchFamily="34" charset="0"/>
              </a:rPr>
              <a:t>: indoor set point temperature [°C]</a:t>
            </a:r>
          </a:p>
          <a:p>
            <a:r>
              <a:rPr lang="en-US" dirty="0" err="1">
                <a:latin typeface="Tw Cen MT Condensed" pitchFamily="34" charset="0"/>
              </a:rPr>
              <a:t>T_out</a:t>
            </a:r>
            <a:r>
              <a:rPr lang="en-US" dirty="0">
                <a:latin typeface="Tw Cen MT Condensed" pitchFamily="34" charset="0"/>
              </a:rPr>
              <a:t>(t): outdoor temperature [°C]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2508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066800"/>
            <a:ext cx="563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w Cen MT Condensed" pitchFamily="34" charset="0"/>
              </a:rPr>
              <a:t>Envelope (Conductive) Thermal 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81200"/>
            <a:ext cx="7543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Q_env</a:t>
            </a:r>
            <a:r>
              <a:rPr lang="en-US" sz="2400" dirty="0"/>
              <a:t>(t) = U* A * (</a:t>
            </a:r>
            <a:r>
              <a:rPr lang="en-US" sz="2400" dirty="0" err="1"/>
              <a:t>T_set</a:t>
            </a:r>
            <a:r>
              <a:rPr lang="en-US" sz="2400" dirty="0"/>
              <a:t> - </a:t>
            </a:r>
            <a:r>
              <a:rPr lang="en-US" sz="2400" dirty="0" err="1"/>
              <a:t>T_out</a:t>
            </a:r>
            <a:r>
              <a:rPr lang="en-US" sz="2400" dirty="0"/>
              <a:t>(t))</a:t>
            </a:r>
          </a:p>
          <a:p>
            <a:endParaRPr lang="en-US" sz="2400" dirty="0"/>
          </a:p>
          <a:p>
            <a:endParaRPr lang="en-US" sz="2400" dirty="0">
              <a:latin typeface="Tw Cen MT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66800" y="2812197"/>
            <a:ext cx="68580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Tw Cen MT Condensed" pitchFamily="34" charset="0"/>
              </a:rPr>
              <a:t>Q_env</a:t>
            </a:r>
            <a:r>
              <a:rPr lang="en-US" dirty="0">
                <a:latin typeface="Tw Cen MT Condensed" pitchFamily="34" charset="0"/>
              </a:rPr>
              <a:t>(t): envelope heat transfer load [W]</a:t>
            </a:r>
          </a:p>
          <a:p>
            <a:r>
              <a:rPr lang="en-US" dirty="0">
                <a:latin typeface="Tw Cen MT Condensed" pitchFamily="34" charset="0"/>
              </a:rPr>
              <a:t>U: overall heat transfer coefficient [W/m²·K]</a:t>
            </a:r>
          </a:p>
          <a:p>
            <a:r>
              <a:rPr lang="en-US" dirty="0">
                <a:latin typeface="Tw Cen MT Condensed" pitchFamily="34" charset="0"/>
              </a:rPr>
              <a:t>A: envelope area [m²]</a:t>
            </a:r>
          </a:p>
          <a:p>
            <a:r>
              <a:rPr lang="en-US" dirty="0">
                <a:latin typeface="Tw Cen MT Condensed" pitchFamily="34" charset="0"/>
              </a:rPr>
              <a:t>UA: product of U and A [W/K]</a:t>
            </a:r>
          </a:p>
          <a:p>
            <a:r>
              <a:rPr lang="en-US" dirty="0" err="1">
                <a:latin typeface="Tw Cen MT Condensed" pitchFamily="34" charset="0"/>
              </a:rPr>
              <a:t>T_set</a:t>
            </a:r>
            <a:r>
              <a:rPr lang="en-US" dirty="0">
                <a:latin typeface="Tw Cen MT Condensed" pitchFamily="34" charset="0"/>
              </a:rPr>
              <a:t>: </a:t>
            </a:r>
            <a:r>
              <a:rPr lang="en-US">
                <a:latin typeface="Tw Cen MT Condensed" pitchFamily="34" charset="0"/>
              </a:rPr>
              <a:t>indoor set point </a:t>
            </a:r>
            <a:r>
              <a:rPr lang="en-US" dirty="0">
                <a:latin typeface="Tw Cen MT Condensed" pitchFamily="34" charset="0"/>
              </a:rPr>
              <a:t>[°C]</a:t>
            </a:r>
          </a:p>
          <a:p>
            <a:r>
              <a:rPr lang="en-US" dirty="0" err="1">
                <a:latin typeface="Tw Cen MT Condensed" pitchFamily="34" charset="0"/>
              </a:rPr>
              <a:t>T_out</a:t>
            </a:r>
            <a:r>
              <a:rPr lang="en-US" dirty="0">
                <a:latin typeface="Tw Cen MT Condensed" pitchFamily="34" charset="0"/>
              </a:rPr>
              <a:t>(t): outdoor temperature [°C]</a:t>
            </a:r>
          </a:p>
        </p:txBody>
      </p:sp>
    </p:spTree>
    <p:extLst>
      <p:ext uri="{BB962C8B-B14F-4D97-AF65-F5344CB8AC3E}">
        <p14:creationId xmlns:p14="http://schemas.microsoft.com/office/powerpoint/2010/main" val="41582641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066800"/>
            <a:ext cx="563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w Cen MT Condensed" pitchFamily="34" charset="0"/>
              </a:rPr>
              <a:t>Internal Heat Gains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81200"/>
            <a:ext cx="75438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 err="1"/>
              <a:t>Q_int</a:t>
            </a:r>
            <a:r>
              <a:rPr lang="fr-FR" sz="2400" dirty="0"/>
              <a:t>(t) = N(t) * </a:t>
            </a:r>
            <a:r>
              <a:rPr lang="fr-FR" sz="2400" dirty="0" err="1"/>
              <a:t>q_person</a:t>
            </a:r>
            <a:r>
              <a:rPr lang="fr-FR" sz="2400" dirty="0"/>
              <a:t> + </a:t>
            </a:r>
            <a:r>
              <a:rPr lang="fr-FR" sz="2400" dirty="0" err="1"/>
              <a:t>Q_plug</a:t>
            </a:r>
            <a:r>
              <a:rPr lang="fr-FR" sz="2400" dirty="0"/>
              <a:t> + </a:t>
            </a:r>
            <a:r>
              <a:rPr lang="fr-FR" sz="2400" dirty="0" err="1"/>
              <a:t>Q_light</a:t>
            </a:r>
            <a:endParaRPr lang="fr-FR" sz="2400" dirty="0"/>
          </a:p>
          <a:p>
            <a:endParaRPr lang="fr-FR" sz="2400" dirty="0"/>
          </a:p>
          <a:p>
            <a:endParaRPr lang="en-US" sz="2400" dirty="0"/>
          </a:p>
          <a:p>
            <a:endParaRPr lang="en-US" sz="2400" dirty="0">
              <a:latin typeface="Tw Cen MT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66800" y="2812197"/>
            <a:ext cx="6858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Tw Cen MT Condensed" pitchFamily="34" charset="0"/>
              </a:rPr>
              <a:t>Q_int</a:t>
            </a:r>
            <a:r>
              <a:rPr lang="en-US" dirty="0">
                <a:latin typeface="Tw Cen MT Condensed" pitchFamily="34" charset="0"/>
              </a:rPr>
              <a:t>(t): internal heat gain [W]</a:t>
            </a:r>
          </a:p>
          <a:p>
            <a:r>
              <a:rPr lang="en-US" dirty="0">
                <a:latin typeface="Tw Cen MT Condensed" pitchFamily="34" charset="0"/>
              </a:rPr>
              <a:t>N(t): number of people [persons]</a:t>
            </a:r>
          </a:p>
          <a:p>
            <a:r>
              <a:rPr lang="en-US" dirty="0" err="1">
                <a:latin typeface="Tw Cen MT Condensed" pitchFamily="34" charset="0"/>
              </a:rPr>
              <a:t>q_person</a:t>
            </a:r>
            <a:r>
              <a:rPr lang="en-US" dirty="0">
                <a:latin typeface="Tw Cen MT Condensed" pitchFamily="34" charset="0"/>
              </a:rPr>
              <a:t>: sensible heat per person (60–80 W/person)</a:t>
            </a:r>
          </a:p>
          <a:p>
            <a:r>
              <a:rPr lang="en-US" dirty="0" err="1">
                <a:latin typeface="Tw Cen MT Condensed" pitchFamily="34" charset="0"/>
              </a:rPr>
              <a:t>Q_plug</a:t>
            </a:r>
            <a:r>
              <a:rPr lang="en-US" dirty="0">
                <a:latin typeface="Tw Cen MT Condensed" pitchFamily="34" charset="0"/>
              </a:rPr>
              <a:t>: plug load heat gain [W]</a:t>
            </a:r>
          </a:p>
          <a:p>
            <a:r>
              <a:rPr lang="en-US" dirty="0" err="1">
                <a:latin typeface="Tw Cen MT Condensed" pitchFamily="34" charset="0"/>
              </a:rPr>
              <a:t>Q_light</a:t>
            </a:r>
            <a:r>
              <a:rPr lang="en-US" dirty="0">
                <a:latin typeface="Tw Cen MT Condensed" pitchFamily="34" charset="0"/>
              </a:rPr>
              <a:t>: lighting heat gain [W]</a:t>
            </a:r>
          </a:p>
        </p:txBody>
      </p:sp>
    </p:spTree>
    <p:extLst>
      <p:ext uri="{BB962C8B-B14F-4D97-AF65-F5344CB8AC3E}">
        <p14:creationId xmlns:p14="http://schemas.microsoft.com/office/powerpoint/2010/main" val="24743391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066800"/>
            <a:ext cx="563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w Cen MT Condensed" pitchFamily="34" charset="0"/>
              </a:rPr>
              <a:t>Net Thermal 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81200"/>
            <a:ext cx="75438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 err="1"/>
              <a:t>Q_total</a:t>
            </a:r>
            <a:r>
              <a:rPr lang="fr-FR" sz="2400" dirty="0"/>
              <a:t>(t) = </a:t>
            </a:r>
            <a:r>
              <a:rPr lang="fr-FR" sz="2400" dirty="0" err="1"/>
              <a:t>Q_env</a:t>
            </a:r>
            <a:r>
              <a:rPr lang="fr-FR" sz="2400" dirty="0"/>
              <a:t>(t) + </a:t>
            </a:r>
            <a:r>
              <a:rPr lang="fr-FR" sz="2400" dirty="0" err="1"/>
              <a:t>Q_vent</a:t>
            </a:r>
            <a:r>
              <a:rPr lang="fr-FR" sz="2400" dirty="0"/>
              <a:t>(t) - </a:t>
            </a:r>
            <a:r>
              <a:rPr lang="fr-FR" sz="2400" dirty="0" err="1"/>
              <a:t>Q_int</a:t>
            </a:r>
            <a:r>
              <a:rPr lang="fr-FR" sz="2400" dirty="0"/>
              <a:t>(t)</a:t>
            </a:r>
          </a:p>
          <a:p>
            <a:endParaRPr lang="fr-FR" sz="2400" dirty="0"/>
          </a:p>
          <a:p>
            <a:endParaRPr lang="fr-FR" sz="2400" dirty="0"/>
          </a:p>
          <a:p>
            <a:endParaRPr lang="en-US" sz="2400" dirty="0"/>
          </a:p>
          <a:p>
            <a:endParaRPr lang="en-US" sz="2400" dirty="0">
              <a:latin typeface="Tw Cen MT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66800" y="2812197"/>
            <a:ext cx="6858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Tw Cen MT Condensed" pitchFamily="34" charset="0"/>
              </a:rPr>
              <a:t>Q_total</a:t>
            </a:r>
            <a:r>
              <a:rPr lang="en-US" dirty="0">
                <a:latin typeface="Tw Cen MT Condensed" pitchFamily="34" charset="0"/>
              </a:rPr>
              <a:t>(t): combined load representing heating/cooling need [W]</a:t>
            </a:r>
          </a:p>
          <a:p>
            <a:r>
              <a:rPr lang="en-US" dirty="0">
                <a:latin typeface="Tw Cen MT Condensed" pitchFamily="34" charset="0"/>
              </a:rPr>
              <a:t>Positive </a:t>
            </a:r>
            <a:r>
              <a:rPr lang="en-US" dirty="0" err="1">
                <a:latin typeface="Tw Cen MT Condensed" pitchFamily="34" charset="0"/>
              </a:rPr>
              <a:t>Q_total</a:t>
            </a:r>
            <a:r>
              <a:rPr lang="en-US" dirty="0">
                <a:latin typeface="Tw Cen MT Condensed" pitchFamily="34" charset="0"/>
              </a:rPr>
              <a:t> → heating required</a:t>
            </a:r>
          </a:p>
          <a:p>
            <a:r>
              <a:rPr lang="en-US" dirty="0">
                <a:latin typeface="Tw Cen MT Condensed" pitchFamily="34" charset="0"/>
              </a:rPr>
              <a:t>Negative </a:t>
            </a:r>
            <a:r>
              <a:rPr lang="en-US" dirty="0" err="1">
                <a:latin typeface="Tw Cen MT Condensed" pitchFamily="34" charset="0"/>
              </a:rPr>
              <a:t>Q_total</a:t>
            </a:r>
            <a:r>
              <a:rPr lang="en-US" dirty="0">
                <a:latin typeface="Tw Cen MT Condensed" pitchFamily="34" charset="0"/>
              </a:rPr>
              <a:t> → cooling required</a:t>
            </a:r>
          </a:p>
        </p:txBody>
      </p:sp>
    </p:spTree>
    <p:extLst>
      <p:ext uri="{BB962C8B-B14F-4D97-AF65-F5344CB8AC3E}">
        <p14:creationId xmlns:p14="http://schemas.microsoft.com/office/powerpoint/2010/main" val="2510311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066800"/>
            <a:ext cx="563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w Cen MT Condensed" pitchFamily="34" charset="0"/>
              </a:rPr>
              <a:t>Heating Load &amp; Energy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81200"/>
            <a:ext cx="75438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Q_heat</a:t>
            </a:r>
            <a:r>
              <a:rPr lang="en-US" sz="2400" dirty="0"/>
              <a:t>(t) = max(0, </a:t>
            </a:r>
            <a:r>
              <a:rPr lang="en-US" sz="2400" dirty="0" err="1"/>
              <a:t>Q_total</a:t>
            </a:r>
            <a:r>
              <a:rPr lang="en-US" sz="2400" dirty="0"/>
              <a:t>(t))</a:t>
            </a:r>
          </a:p>
          <a:p>
            <a:r>
              <a:rPr lang="en-US" sz="2400" dirty="0" err="1"/>
              <a:t>E_heat</a:t>
            </a:r>
            <a:r>
              <a:rPr lang="en-US" sz="2400" dirty="0"/>
              <a:t> = Σ[ </a:t>
            </a:r>
            <a:r>
              <a:rPr lang="en-US" sz="2400" dirty="0" err="1"/>
              <a:t>Q_heat</a:t>
            </a:r>
            <a:r>
              <a:rPr lang="en-US" sz="2400" dirty="0"/>
              <a:t>(t) * </a:t>
            </a:r>
            <a:r>
              <a:rPr lang="en-US" sz="2400" dirty="0" err="1"/>
              <a:t>Δt</a:t>
            </a:r>
            <a:r>
              <a:rPr lang="en-US" sz="2400" dirty="0"/>
              <a:t> ] / </a:t>
            </a:r>
            <a:r>
              <a:rPr lang="en-US" sz="2400" dirty="0" err="1"/>
              <a:t>η_heat</a:t>
            </a:r>
            <a:endParaRPr lang="en-US" sz="2400" dirty="0"/>
          </a:p>
          <a:p>
            <a:endParaRPr lang="fr-FR" sz="2400" dirty="0"/>
          </a:p>
          <a:p>
            <a:endParaRPr lang="en-US" sz="2400" dirty="0"/>
          </a:p>
          <a:p>
            <a:endParaRPr lang="en-US" sz="2400" dirty="0">
              <a:latin typeface="Tw Cen MT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3124199"/>
            <a:ext cx="6858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Tw Cen MT Condensed" pitchFamily="34" charset="0"/>
              </a:rPr>
              <a:t>Q_heat</a:t>
            </a:r>
            <a:r>
              <a:rPr lang="en-US" dirty="0">
                <a:latin typeface="Tw Cen MT Condensed" pitchFamily="34" charset="0"/>
              </a:rPr>
              <a:t>(t): instantaneous heating power [W]</a:t>
            </a:r>
          </a:p>
          <a:p>
            <a:r>
              <a:rPr lang="en-US" dirty="0" err="1">
                <a:latin typeface="Tw Cen MT Condensed" pitchFamily="34" charset="0"/>
              </a:rPr>
              <a:t>E_heat</a:t>
            </a:r>
            <a:r>
              <a:rPr lang="en-US" dirty="0">
                <a:latin typeface="Tw Cen MT Condensed" pitchFamily="34" charset="0"/>
              </a:rPr>
              <a:t>: total heating energy [J or kWh]</a:t>
            </a:r>
          </a:p>
          <a:p>
            <a:r>
              <a:rPr lang="en-US" dirty="0" err="1">
                <a:latin typeface="Tw Cen MT Condensed" pitchFamily="34" charset="0"/>
              </a:rPr>
              <a:t>Δt</a:t>
            </a:r>
            <a:r>
              <a:rPr lang="en-US" dirty="0">
                <a:latin typeface="Tw Cen MT Condensed" pitchFamily="34" charset="0"/>
              </a:rPr>
              <a:t>: </a:t>
            </a:r>
            <a:r>
              <a:rPr lang="en-US" dirty="0" err="1">
                <a:latin typeface="Tw Cen MT Condensed" pitchFamily="34" charset="0"/>
              </a:rPr>
              <a:t>timestep</a:t>
            </a:r>
            <a:r>
              <a:rPr lang="en-US" dirty="0">
                <a:latin typeface="Tw Cen MT Condensed" pitchFamily="34" charset="0"/>
              </a:rPr>
              <a:t> [s]</a:t>
            </a:r>
          </a:p>
          <a:p>
            <a:r>
              <a:rPr lang="en-US" dirty="0" err="1">
                <a:latin typeface="Tw Cen MT Condensed" pitchFamily="34" charset="0"/>
              </a:rPr>
              <a:t>η_heat</a:t>
            </a:r>
            <a:r>
              <a:rPr lang="en-US" dirty="0">
                <a:latin typeface="Tw Cen MT Condensed" pitchFamily="34" charset="0"/>
              </a:rPr>
              <a:t>: heating system efficiency (0.8–0.95)</a:t>
            </a:r>
          </a:p>
        </p:txBody>
      </p:sp>
    </p:spTree>
    <p:extLst>
      <p:ext uri="{BB962C8B-B14F-4D97-AF65-F5344CB8AC3E}">
        <p14:creationId xmlns:p14="http://schemas.microsoft.com/office/powerpoint/2010/main" val="20481252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066800"/>
            <a:ext cx="563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w Cen MT Condensed" pitchFamily="34" charset="0"/>
              </a:rPr>
              <a:t>Cooling Load &amp; Energy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3635" y="1444152"/>
            <a:ext cx="7543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400" dirty="0"/>
          </a:p>
          <a:p>
            <a:r>
              <a:rPr lang="en-US" sz="2400" dirty="0" err="1"/>
              <a:t>Q_cool</a:t>
            </a:r>
            <a:r>
              <a:rPr lang="en-US" sz="2400" dirty="0"/>
              <a:t>(t) = max(0, -</a:t>
            </a:r>
            <a:r>
              <a:rPr lang="en-US" sz="2400" dirty="0" err="1"/>
              <a:t>Q_total</a:t>
            </a:r>
            <a:r>
              <a:rPr lang="en-US" sz="2400" dirty="0"/>
              <a:t>(t))</a:t>
            </a:r>
          </a:p>
          <a:p>
            <a:r>
              <a:rPr lang="en-US" sz="2400" dirty="0" err="1"/>
              <a:t>E_cool</a:t>
            </a:r>
            <a:r>
              <a:rPr lang="en-US" sz="2400" dirty="0"/>
              <a:t> = </a:t>
            </a:r>
            <a:r>
              <a:rPr lang="el-GR" sz="2400" dirty="0"/>
              <a:t>Σ[ </a:t>
            </a:r>
            <a:r>
              <a:rPr lang="en-US" sz="2400" dirty="0" err="1"/>
              <a:t>Q_cool</a:t>
            </a:r>
            <a:r>
              <a:rPr lang="en-US" sz="2400" dirty="0"/>
              <a:t>(t) * </a:t>
            </a:r>
            <a:r>
              <a:rPr lang="el-GR" sz="2400" dirty="0"/>
              <a:t>Δ</a:t>
            </a:r>
            <a:r>
              <a:rPr lang="en-US" sz="2400" dirty="0"/>
              <a:t>t ] / </a:t>
            </a:r>
            <a:r>
              <a:rPr lang="en-US" sz="2400" dirty="0" err="1"/>
              <a:t>COP_cool</a:t>
            </a:r>
            <a:endParaRPr lang="en-US" sz="2400" dirty="0"/>
          </a:p>
          <a:p>
            <a:endParaRPr lang="fr-FR" sz="2400" dirty="0"/>
          </a:p>
          <a:p>
            <a:endParaRPr lang="en-US" sz="2400" dirty="0"/>
          </a:p>
          <a:p>
            <a:endParaRPr lang="en-US" sz="2400" dirty="0">
              <a:latin typeface="Tw Cen MT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3124199"/>
            <a:ext cx="6858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Tw Cen MT Condensed" pitchFamily="34" charset="0"/>
              </a:rPr>
              <a:t>Q_cool</a:t>
            </a:r>
            <a:r>
              <a:rPr lang="en-US" dirty="0">
                <a:latin typeface="Tw Cen MT Condensed" pitchFamily="34" charset="0"/>
              </a:rPr>
              <a:t>(t): instantaneous cooling power [W]</a:t>
            </a:r>
          </a:p>
          <a:p>
            <a:r>
              <a:rPr lang="en-US" dirty="0" err="1">
                <a:latin typeface="Tw Cen MT Condensed" pitchFamily="34" charset="0"/>
              </a:rPr>
              <a:t>E_cool</a:t>
            </a:r>
            <a:r>
              <a:rPr lang="en-US" dirty="0">
                <a:latin typeface="Tw Cen MT Condensed" pitchFamily="34" charset="0"/>
              </a:rPr>
              <a:t>: cooling electricity consumption [J or kWh]</a:t>
            </a:r>
          </a:p>
          <a:p>
            <a:r>
              <a:rPr lang="en-US" dirty="0" err="1">
                <a:latin typeface="Tw Cen MT Condensed" pitchFamily="34" charset="0"/>
              </a:rPr>
              <a:t>COP_cool</a:t>
            </a:r>
            <a:r>
              <a:rPr lang="en-US" dirty="0">
                <a:latin typeface="Tw Cen MT Condensed" pitchFamily="34" charset="0"/>
              </a:rPr>
              <a:t>: cooling system coefficient of performance (2–4)</a:t>
            </a:r>
          </a:p>
        </p:txBody>
      </p:sp>
    </p:spTree>
    <p:extLst>
      <p:ext uri="{BB962C8B-B14F-4D97-AF65-F5344CB8AC3E}">
        <p14:creationId xmlns:p14="http://schemas.microsoft.com/office/powerpoint/2010/main" val="1483259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066800"/>
            <a:ext cx="563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w Cen MT Condensed" pitchFamily="34" charset="0"/>
              </a:rPr>
              <a:t>Exploratory Data Analysis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2375135"/>
              </p:ext>
            </p:extLst>
          </p:nvPr>
        </p:nvGraphicFramePr>
        <p:xfrm>
          <a:off x="1143000" y="1752600"/>
          <a:ext cx="7787005" cy="312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5450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</a:tblGrid>
              <a:tr h="16662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Room1</a:t>
                      </a:r>
                      <a:r>
                        <a:rPr lang="en-US" baseline="0" dirty="0"/>
                        <a:t> occupancy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u="none" strike="noStrike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Min value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u="none" strike="noStrike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Max value</a:t>
                      </a:r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u="none" strike="noStrike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Standard deviation </a:t>
                      </a:r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u="none" strike="noStrike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Skew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u="none" strike="noStrike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Kurtosis</a:t>
                      </a:r>
                      <a:endParaRPr lang="en-US" dirty="0"/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7289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My</a:t>
                      </a:r>
                      <a:r>
                        <a:rPr lang="en-US" baseline="0" dirty="0"/>
                        <a:t> </a:t>
                      </a:r>
                      <a:r>
                        <a:rPr lang="en-US" baseline="0" dirty="0" err="1"/>
                        <a:t>calc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80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15.87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u="none" strike="noStrike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2.14</a:t>
                      </a:r>
                      <a:endParaRPr lang="en-US" dirty="0"/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3.71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7289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Literature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16.22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88500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1066800"/>
            <a:ext cx="563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latin typeface="Tw Cen MT Condensed" pitchFamily="34" charset="0"/>
              </a:rPr>
              <a:t>V1-Occupancy </a:t>
            </a:r>
            <a:r>
              <a:rPr lang="en-US" sz="2400" dirty="0">
                <a:latin typeface="Tw Cen MT Condensed" pitchFamily="34" charset="0"/>
              </a:rPr>
              <a:t>Sampling (10 MC run)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xmlns="" id="{58AC8864-17E4-56E3-19BB-2E909D05D6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846243"/>
              </p:ext>
            </p:extLst>
          </p:nvPr>
        </p:nvGraphicFramePr>
        <p:xfrm>
          <a:off x="914400" y="1866900"/>
          <a:ext cx="7787005" cy="312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5450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</a:tblGrid>
              <a:tr h="16662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Room1</a:t>
                      </a:r>
                      <a:r>
                        <a:rPr lang="en-US" baseline="0" dirty="0"/>
                        <a:t> occupancy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u="none" strike="noStrike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Min value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u="none" strike="noStrike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Max value</a:t>
                      </a:r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u="none" strike="noStrike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Standard deviation </a:t>
                      </a:r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u="none" strike="noStrike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Skew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u="none" strike="noStrike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Kurtosis</a:t>
                      </a:r>
                      <a:endParaRPr lang="en-US" dirty="0"/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7289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Bootstrapped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80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16.2729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u="none" strike="noStrike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2.28</a:t>
                      </a:r>
                      <a:endParaRPr lang="en-US" dirty="0"/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4.38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7289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Literature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16.22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7548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1066800"/>
            <a:ext cx="563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latin typeface="Tw Cen MT Condensed" pitchFamily="34" charset="0"/>
              </a:rPr>
              <a:t>V2- CO2 Simulation</a:t>
            </a:r>
            <a:endParaRPr lang="en-US" sz="2400" dirty="0">
              <a:latin typeface="Tw Cen MT Condensed" pitchFamily="34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6894931"/>
              </p:ext>
            </p:extLst>
          </p:nvPr>
        </p:nvGraphicFramePr>
        <p:xfrm>
          <a:off x="838200" y="1905002"/>
          <a:ext cx="6934200" cy="3428997"/>
        </p:xfrm>
        <a:graphic>
          <a:graphicData uri="http://schemas.openxmlformats.org/drawingml/2006/table">
            <a:tbl>
              <a:tblPr/>
              <a:tblGrid>
                <a:gridCol w="911894"/>
                <a:gridCol w="1880783"/>
                <a:gridCol w="2089759"/>
                <a:gridCol w="2051764"/>
              </a:tblGrid>
              <a:tr h="311727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room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                             CO2_sim_mean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                               CO2_meas_mean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                      </a:t>
                      </a:r>
                      <a:r>
                        <a:rPr 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bias_sim_minus_meas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Room1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419.9996042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641.8188897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-221.8192855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Room1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420.0001343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486.4577779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-66.45764355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Room1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420.0000805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547.1571122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-127.1570318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Room1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420.0005307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606.5966687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-186.596138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Room1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420.0001008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602.6855552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-182.6854543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Room1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420.0001047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549.8744438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-129.8743391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Room1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420.0000288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478.5697796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-58.56975077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Room1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420.000564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591.5240003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-171.5234363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Room1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420.000161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600.5215556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-180.5213946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11727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Room1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420.0171132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602.0304447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-182.0133315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02933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466635"/>
            <a:ext cx="5638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latin typeface="Tw Cen MT Condensed" pitchFamily="34" charset="0"/>
              </a:rPr>
              <a:t>H1-As </a:t>
            </a:r>
            <a:r>
              <a:rPr lang="en-US" sz="2400" dirty="0">
                <a:latin typeface="Tw Cen MT Condensed" pitchFamily="34" charset="0"/>
              </a:rPr>
              <a:t>average occupancy increases, the per-capita energy consumption decreases</a:t>
            </a:r>
          </a:p>
          <a:p>
            <a:endParaRPr lang="en-US" sz="2400" dirty="0">
              <a:latin typeface="Tw Cen MT Condensed" pitchFamily="34" charset="0"/>
            </a:endParaRPr>
          </a:p>
        </p:txBody>
      </p:sp>
      <p:pic>
        <p:nvPicPr>
          <p:cNvPr id="1026" name="Picture 2" descr="H:\OneDrive - University of Illinois - Urbana\Fall_2025\IS_597\old_plots\H1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524000"/>
            <a:ext cx="64008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97640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466635"/>
            <a:ext cx="6705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latin typeface="Tw Cen MT Condensed" pitchFamily="34" charset="0"/>
              </a:rPr>
              <a:t>H1-</a:t>
            </a:r>
            <a:r>
              <a:rPr lang="en-US" sz="2400" dirty="0">
                <a:latin typeface="Tw Cen MT Condensed" pitchFamily="34" charset="0"/>
              </a:rPr>
              <a:t>Compared to fixed ventilation, occupancy-based ventilation will reduce CO₂ </a:t>
            </a:r>
            <a:r>
              <a:rPr lang="en-US" sz="2400" dirty="0" err="1">
                <a:latin typeface="Tw Cen MT Condensed" pitchFamily="34" charset="0"/>
              </a:rPr>
              <a:t>exceedance</a:t>
            </a:r>
            <a:r>
              <a:rPr lang="en-US" sz="2400" dirty="0">
                <a:latin typeface="Tw Cen MT Condensed" pitchFamily="34" charset="0"/>
              </a:rPr>
              <a:t> hours and energy use.</a:t>
            </a:r>
          </a:p>
          <a:p>
            <a:endParaRPr lang="en-US" sz="2400" dirty="0" smtClean="0">
              <a:latin typeface="Tw Cen MT Condensed" pitchFamily="34" charset="0"/>
            </a:endParaRPr>
          </a:p>
          <a:p>
            <a:endParaRPr lang="en-US" sz="2400" dirty="0">
              <a:latin typeface="Tw Cen MT Condensed" pitchFamily="34" charset="0"/>
            </a:endParaRPr>
          </a:p>
        </p:txBody>
      </p:sp>
      <p:pic>
        <p:nvPicPr>
          <p:cNvPr id="3074" name="Picture 2" descr="H:\OneDrive - University of Illinois - Urbana\Fall_2025\IS_597\old_plots\H2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1600200"/>
            <a:ext cx="7239000" cy="301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275042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466635"/>
            <a:ext cx="6705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latin typeface="Tw Cen MT Condensed" pitchFamily="34" charset="0"/>
              </a:rPr>
              <a:t>H1-</a:t>
            </a:r>
            <a:r>
              <a:rPr lang="en-US" sz="2400" dirty="0">
                <a:latin typeface="Tw Cen MT Condensed" pitchFamily="34" charset="0"/>
              </a:rPr>
              <a:t>Compared to fixed ventilation, occupancy-based ventilation will reduce CO₂ </a:t>
            </a:r>
            <a:r>
              <a:rPr lang="en-US" sz="2400" dirty="0" err="1">
                <a:latin typeface="Tw Cen MT Condensed" pitchFamily="34" charset="0"/>
              </a:rPr>
              <a:t>exceedance</a:t>
            </a:r>
            <a:r>
              <a:rPr lang="en-US" sz="2400" dirty="0">
                <a:latin typeface="Tw Cen MT Condensed" pitchFamily="34" charset="0"/>
              </a:rPr>
              <a:t> hours and energy use.</a:t>
            </a:r>
          </a:p>
          <a:p>
            <a:endParaRPr lang="en-US" sz="2400" dirty="0" smtClean="0">
              <a:latin typeface="Tw Cen MT Condensed" pitchFamily="34" charset="0"/>
            </a:endParaRPr>
          </a:p>
          <a:p>
            <a:endParaRPr lang="en-US" sz="2400" dirty="0">
              <a:latin typeface="Tw Cen MT Condensed" pitchFamily="34" charset="0"/>
            </a:endParaRPr>
          </a:p>
        </p:txBody>
      </p:sp>
      <p:pic>
        <p:nvPicPr>
          <p:cNvPr id="4098" name="Picture 2" descr="H:\OneDrive - University of Illinois - Urbana\Fall_2025\IS_597\old_plots\H2-carbon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162" y="1447800"/>
            <a:ext cx="64008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8974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693</Words>
  <Application>Microsoft Office PowerPoint</Application>
  <PresentationFormat>On-screen Show (4:3)</PresentationFormat>
  <Paragraphs>158</Paragraphs>
  <Slides>17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Shuvo</dc:creator>
  <cp:lastModifiedBy>Shuvo</cp:lastModifiedBy>
  <cp:revision>7</cp:revision>
  <dcterms:created xsi:type="dcterms:W3CDTF">2025-12-03T13:28:24Z</dcterms:created>
  <dcterms:modified xsi:type="dcterms:W3CDTF">2025-12-10T14:16:20Z</dcterms:modified>
</cp:coreProperties>
</file>